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TITRE (20-30 secondes)
SCRIPT ORAL :
"Bonjour à tous. Je suis [Prénom], membre de l'équipe Neptune. Nous allons vous présenter Pulsar, notre application mobile de billetterie événementielle éco-responsable. En 8 minutes, je vais vous montrer les choix techniques que nous avons faits — pourquoi Flutter, pourquoi cette architecture, et comment nos diagrammes se lisent."
CONSEILS :
→ Parler lentement, regarder le jury, sourire
→ Ne pas lire le slide — il est juste là pour ancrer le contexte
→ Transition : "Commençons par comprendre ce que fait Pulsar et pourquoi il existe."
QUESTIONS POSSIBLES à ce stade :
Q: "C'est un projet scolaire ou réel ?"
R: "C'est un projet de formation, traité comme un projet professionnel avec une vraie architecture, un vrai CDC, et des choix technologiques justifiés."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PROBLÈME / SOLUTION (45-60 secondes)
SCRIPT ORAL :
"Aujourd'hui, pour aller à un concert, vous utilisez Shotgun pour le billet, Google Maps pour le trajet, Booking pour l'hôtel — et vous perdez le fil entre les 3. Pulsar résout ça en un seul endroit. Et en plus, il calcule automatiquement votre empreinte carbone et vous propose les transports les moins polluants."
POINT CLÉ À INSISTER :
→ "Les billets fonctionnent SANS réseau — le QR code est généré et signé côté client."
→ C'est ça l'offline-first : votre téléphone est autonome, il se synchronise quand le réseau revient.
QUESTIONS POSSIBLES :
Q: "En quoi Pulsar est différent de Shotgun ou Eventbrite ?"
R: "Shotgun vend des billets, il ne gère ni le transport ni l'hébergement. Pulsar est le seul à intégrer les 3 dans un même flux avec le calcul CO₂ ADEME."
Q: "Le mode offline, comment ça marche concrètement ?"
R: "Les données sont stockées localement dans Isar — une base NoSQL sur le téléphone. Quand internet revient, la synchronisation est automatique."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FLUTTER (60 secondes)
SCRIPT ORAL :
"On a choisi Flutter pour une raison simple : à 4 personnes, on ne peut pas maintenir 3 apps séparées. Flutter nous donne Android, iOS et Web à partir d'un seul code Dart. Et il compile ce code directement en langage machine — c'est ce qu'on appelle la compilation AOT. Résultat : des performances proches du natif, à 60 images par seconde, sans le bridge JavaScript de React Native qui introduit de la latence."
POINT CLÉ :
→ Si on dit 'compilation AOT' → "Ça veut dire que le code est traduit en langage machine AVANT l'installation, pas à la volée pendant l'utilisation. Comme un livre traduit avant impression vs un traducteur simultané."
QUESTIONS POSSIBLES :
Q: "Pourquoi pas React Native, c'est plus populaire ?"
R: "React Native est excellent mais il ne supporte pas Flutter Web nativement, et son bridge JavaScript introduit de la latence. Pour notre contrainte de 60 FPS sur les animations et le QR code offline sous 500ms, Flutter est objectivement supérieur."
Q: "Dart est un langage que vous connaissiez avant ?"
R: "Non, on l'a appris sur ce projet. Sa syntaxe ressemble beaucoup à JavaScript/TypeScript, l'apprentissage est rapide — environ 1-2 semaines pour être productif."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ARCHITECTURE (60-75 secondes)
SCRIPT ORAL :
"Notre application est organisée selon la Clean Architecture. Concrètement, ça signifie que le code est découpé en 3 couches : la Présentation — ce que l'utilisateur voit, les Données — comment on accède à la base, et le Métier — les règles de l'application. La règle fondamentale : le Métier ne sait pas comment les données sont stockées, ni comment elles sont affichées. Résultat : si demain on change de base de données, on ne touche qu'à la couche Données — les 8 autres modules ne bougent pas."
POINT CLÉ — FEATURE-FIRST :
→ "Au lieu de mettre tous les écrans dans un dossier, tous les modèles dans un autre — on regroupe par fonctionnalité. Quand Islem travaille sur le transport et Manon sur le profil, ils ne sont jamais dans le même fichier."
QUESTIONS POSSIBLES :
Q: "C'est beaucoup de complexité pour un projet scolaire, non ?"
R: "Au contraire — on a 9 features dans le CDC. Sans cette structure, chaque ajout aurait des effets de bord imprévisibles. Le surcoût initial est de 2-3 heures de setup, récupéré dès la 2e feature."
Q: "Qu'est-ce que Riverpod ?"
R: "C'est notre gestionnaire d'état. Quand le panier change, tous les écrans qui l'affichent se mettent à jour automatiquement, sans qu'on gère manuellement les notifications. Et toutes les erreurs sont détectées à la compilation, pas en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ERD (60-75 secondes)
SCRIPT ORAL :
"Notre base de données locale utilise Isar — une base NoSQL qui vit directement sur le téléphone. On a 5 collections. IsarUserProfile stocke le profil de l'utilisateur avec son éco-score. IsarEvent contient le catalogue d'événements — il est intentionnellement dénormalisé, c'est-à-dire que chaque événement porte toutes ses informations, pour qu'on puisse l'afficher même sans réseau. IsarTicket contient les billets avec le QR code signé cryptographiquement. IsarCartItem est le panier temporaire — il devient des billets après paiement. Et IsarFavorite est une table de jonction simple pour les favoris."
DÉNORMALISATION — POINT IMPORTANT :
→ "Vous noterez que IsarTicket copie le nom et le lieu de l'événement. En SQL pur, c'est une faute — on ferait une jointure. Mais ici c'est voulu : c'est un snapshot transactionnel. Si l'organisateur change le nom de l'événement après la vente, le billet doit conserver l'ancienne information."
QUESTIONS POSSIBLES :
Q: "Pourquoi NoSQL et pas SQL ?"
R: "Isar fait 250 000 opérations par seconde sur mobile — largement au-dessus de SQLite. Et en mode offline-first, chaque document doit être auto-suffisant : pas de jointures possibles sans réseau. C'est exactement le pattern MongoDB/Firestore."
Q: "Isar ne supporte pas Flutter Web, non ?"
R: "C'est exact, c'est un risque documenté dans notre CDC. La mitigation : notre couche Repository abstrait l'accès à la base. Si on cible le web en V2, on migre vers Hive CE en 2-3 jours sans toucher aux écrans."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MCD / MLD (60 secondes)
SCRIPT ORAL :
"La méthode Merise demande de concevoir les données en deux étapes. D'abord le MCD — le Modèle Conceptuel — qui représente les entités métier et leurs associations, sans penser à la technologie. On voit ici nos 5 entités : Utilisateur, Événement, Billet, Panier et Favori. Ensuite, on applique 3 règles mécaniques pour obtenir le MLD — le Modèle Logique. Règle 1 : chaque entité devient une table. Règle 2 : son identifiant devient la clé primaire. Règle 3 : chaque association 1 à N se traduit par une clé étrangère dans la table côté N."
POINT CLÉ :
→ "Le MCD dit QUOI. Le MLD dit COMMENT stocker. L'ERD qu'on a vu avant dit COMMENT c'est réellement implémenté dans Isar."
→ "La cardinalité 1,N de ACHÈTE signifie qu'un utilisateur peut acheter plusieurs billets, mais chaque billet appartient à un seul utilisateur."
QUESTIONS POSSIBLES :
Q: "Pourquoi faire un MLD si vous n'utilisez pas SQL ?"
R: "Deux raisons. D'abord, c'est un exercice pédagogique qui montre qu'on maîtrise la modélisation relationnelle. Ensuite, si en V2 on ajoute un back-end PostgreSQL pour les données serveur, ce MLD est directement utilisable. La couche mobile Isar et le back-end SQL peuvent coexister."
Q: "Les cardinalités de l'association FAVORI sont-elles correctes ?"
R: "Oui — c'est une association N:N avec un attribut propre (dateAjout), donc on la modélise comme une entité-association. Un utilisateur peut avoir 0 à N favoris, et un événement peut être favori de 0 à N utilisateurs."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CLASSES + ACTIVITÉ (60 secondes)
SCRIPT ORAL CLASSES :
"Le diagramme de classes montre l'organisation objet du code Flutter. On voit 5 modèles Freezed — ce sont nos données immutables, elles ne peuvent pas être modifiées accidentellement. 3 repositories gèrent l'accès à Isar, et tous les 3 dépendent d'un IsarService singleton. Les flèches en pointillé avec 'manages' montrent que les repositories orchestrent les collections sans les connaître directement."
SCRIPT ORAL ACTIVITÉ :
"Le diagramme d'activité montre le parcours utilisateur avec 3 couloirs. Ce qui est intéressant, c'est le Fork après le paiement — ça signifie que la planification du transport et la réservation de l'hébergement sont des activités indépendantes, l'utilisateur peut faire l'une sans l'autre. Le Join attend que les deux soient terminées avant de continuer vers le Jour J."
QUESTIONS POSSIBLES :
Q: "Pourquoi des modèles immutables (Freezed) ?"
R: "L'immutabilité garantit qu'un widget UI ne peut pas modifier accidentellement une donnée partagée. Pour changer un champ, on crée une copie avec copyWith — ce qui crée une nouvelle version traçable dans l'arbre de widgets."
Q: "Le fork dans le diagramme d'activité, c'est du multi-threading ?"
R: "Non, c'est une notation UML qui dit que ces deux activités sont indépendantes fonctionnellement — l'utilisateur peut les faire dans n'importe quel ordre. Dans l'UI, il les fait l'une après l'autre. Le fork montre l'absence de dépendance, pas une exécution simultanée."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PARCOURS UTILISATEURS (45-60 secondes)
SCRIPT ORAL :
"Pour chaque fonctionnalité importante, on a modélisé le parcours utilisateur complet. Le parcours 1 montre l'achat d'un billet en 8 étapes — de l'ouverture de l'app jusqu'à la réception du QR code. On voit que le système intervient à l'étape 7 pour générer le QR et envoyer la notification. Les parcours 2 et 3 enchaînent automatiquement après l'achat pour proposer le transport et l'hébergement. Ensemble, ces 5 parcours couvrent les 9 modules du CDC."
ÉMOTIONS CIBLES — BON POINT À MENTIONNER :
→ "On a associé une émotion cible à chaque phase : curiosité en découverte, satisfaction à l'achat, fierté pour le choix bas carbone, immersion le jour J. Ce n'est pas du marketing — c'est ce qui guide les micro-décisions d'UX."
QUESTIONS POSSIBLES :
Q: "Pourquoi 5 parcours séparés et pas 1 parcours global ?"
R: "Un parcours de 30 étapes serait illisible. La décomposition permet à chaque membre de l'équipe d'avoir un périmètre, facilite les tests — on peut tester le transport indépendamment — et correspond à notre architecture Feature-First."
Q: "Comment vous vous assurez que les parcours correspondent au code ?"
R: "Chaque étape du parcours renvoie à une ou plusieurs user stories du CDC. Par exemple l'étape 7 (paiement) correspond aux US-PAY-01, US-PAY-02. C'est une traçabilité bidirectionnelle."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SÉCURITÉ (45 secondes — slide rapide)
SCRIPT ORAL :
"La sécurité est traitée à chaque couche. Le point le plus technique : le QR code est signé avec HMAC-SHA256. Concrètement, le serveur calcule une signature à partir du contenu du billet et d'une clé secrète. À l'entrée, le scan reçoit la signature et la recalcule — si elles correspondent, le billet est authentique. Personne ne peut fabriquer un faux QR sans la clé secrète du serveur. Pour le paiement, on délègue à Stripe — nos serveurs ne voient jamais de numéro de CB."
ANALOGIE UTILE :
→ HMAC = "Un sceau royal sur un document. Vous pouvez lire le document, mais vous ne pouvez pas le reproduire sans le sceau."
→ Stripe = "Un notaire pour les paiements : il certifie la transaction, on n'a pas à gérer la sécurité bancaire nous-mêmes."
QUESTIONS POSSIBLES :
Q: "Comment prouvez-vous la conformité RGPD ?"
R: "Privacy by Design dès le CDC : l'utilisateur peut exporter ses données en JSON, les supprimer en cascade, et le consentement est granulaire (notif, géoloc, partage social) — un toggle par traitement."
Q: "Le chiffrement AES-256, c'est standard ?"
R: "Oui, c'est le standard militaire américain, recommandé par l'ANSSI. Isar le propose nativement avec une clé dérivée du PIN biométrique du téléphone."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CONCLUSION (30 secondes)
SCRIPT ORAL :
"Pour résumer ce qu'on a produit : une application Flutter complète avec 42 fichiers organisés en Feature-First Clean Architecture, un CDC de 60 user stories, une modélisation complète — ERD, MCD, MLD, diagramme de classes et d'activité — et tous les fichiers sont 100% éditables dans draw.io. On a traité ce projet scolaire comme un vrai projet professionnel, avec les standards de l'industrie. Merci de votre attention, je suis disponible pour vos questions."
CONSEILS POUR LA Q&amp;R :
→ Prenez 2-3 secondes avant de répondre — ça montre que vous réfléchissez
→ Si vous ne savez pas : "C'est une bonne question, ça n'est pas dans le périmètre du MVP mais voici comment on l'aborderait en V2..."
→ Reformulez les questions difficiles avant de répondre
TOP 5 QUESTIONS SURPRISES POSSIBLES :
1. "Montrez-moi concrètement comment Riverpod fonctionne dans votre code."
   → Expliquer EventProvider : un Provider qui lit Isar et expose une liste d'événements. Tous les widgets qui font ref.watch(eventProvider) se rebuild automatiquement.
2. "Si Firebase tombe en panne, que se passe-t-il ?"
   → L'app continue à fonctionner en offline (Isar local). Les nouvelles données ne se synchronisent pas mais tout l'existant reste accessible. On resynchrone dès que Firebase revient.
3. "Comment vous testez le QR code ?"
   → Test unitaire : générer un QR avec une clé de test, simuler le scan, vérifier que la signature est valide. Test d'intégration : simuler le parcours complet achat → scan en environnement de test.
4. "Votre CDC mentionne un assistant de planification IA — c'est implémenté ?"
   → Non, c'est en MoSCoW 'Could Have', prévu en phase 5-6. Le MVP se concentre sur les 'Must Have'.
5. "Quel est votre KPI le plus important ?"
   → Le taux de conversion catalogue → achat, cible &gt; 8%. C'est le KPI qui valide la proposition de valeur principale de l'app.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7C3AED"/>
          </a:solidFill>
          <a:ln w="12700">
            <a:solidFill>
              <a:srgbClr val="7C3AED"/>
            </a:solidFill>
            <a:prstDash val="solid"/>
          </a:ln>
        </p:spPr>
      </p:sp>
      <p:sp>
        <p:nvSpPr>
          <p:cNvPr id="3" name="Text 1"/>
          <p:cNvSpPr/>
          <p:nvPr/>
        </p:nvSpPr>
        <p:spPr>
          <a:xfrm>
            <a:off x="365760" y="1097280"/>
            <a:ext cx="8412480" cy="1005840"/>
          </a:xfrm>
          <a:prstGeom prst="rect">
            <a:avLst/>
          </a:prstGeom>
          <a:noFill/>
          <a:ln/>
        </p:spPr>
        <p:txBody>
          <a:bodyPr wrap="square" lIns="0" tIns="0" rIns="0" bIns="0" rtlCol="0" anchor="ctr"/>
          <a:lstStyle/>
          <a:p>
            <a:pPr algn="l" indent="0" marL="0">
              <a:buNone/>
            </a:pPr>
            <a:r>
              <a:rPr lang="en-US" sz="7200" b="1" spc="800" kern="0" dirty="0">
                <a:solidFill>
                  <a:srgbClr val="7C3AED"/>
                </a:solidFill>
              </a:rPr>
              <a:t>PULSAR</a:t>
            </a:r>
            <a:endParaRPr lang="en-US" sz="7200" dirty="0"/>
          </a:p>
        </p:txBody>
      </p:sp>
      <p:sp>
        <p:nvSpPr>
          <p:cNvPr id="4" name="Text 2"/>
          <p:cNvSpPr/>
          <p:nvPr/>
        </p:nvSpPr>
        <p:spPr>
          <a:xfrm>
            <a:off x="365760" y="2103120"/>
            <a:ext cx="3657600" cy="457200"/>
          </a:xfrm>
          <a:prstGeom prst="rect">
            <a:avLst/>
          </a:prstGeom>
          <a:noFill/>
          <a:ln/>
        </p:spPr>
        <p:txBody>
          <a:bodyPr wrap="square" lIns="0" tIns="0" rIns="0" bIns="0" rtlCol="0" anchor="ctr"/>
          <a:lstStyle/>
          <a:p>
            <a:pPr algn="l" indent="0" marL="0">
              <a:buNone/>
            </a:pPr>
            <a:r>
              <a:rPr lang="en-US" sz="2200" dirty="0">
                <a:solidFill>
                  <a:srgbClr val="EC4899"/>
                </a:solidFill>
              </a:rPr>
              <a:t>by Neptune</a:t>
            </a:r>
            <a:endParaRPr lang="en-US" sz="2200" dirty="0"/>
          </a:p>
        </p:txBody>
      </p:sp>
      <p:sp>
        <p:nvSpPr>
          <p:cNvPr id="5" name="Text 3"/>
          <p:cNvSpPr/>
          <p:nvPr/>
        </p:nvSpPr>
        <p:spPr>
          <a:xfrm>
            <a:off x="365760" y="2651760"/>
            <a:ext cx="6400800" cy="411480"/>
          </a:xfrm>
          <a:prstGeom prst="rect">
            <a:avLst/>
          </a:prstGeom>
          <a:noFill/>
          <a:ln/>
        </p:spPr>
        <p:txBody>
          <a:bodyPr wrap="square" lIns="0" tIns="0" rIns="0" bIns="0" rtlCol="0" anchor="ctr"/>
          <a:lstStyle/>
          <a:p>
            <a:pPr algn="l" indent="0" marL="0">
              <a:buNone/>
            </a:pPr>
            <a:r>
              <a:rPr lang="en-US" sz="1800" dirty="0">
                <a:solidFill>
                  <a:srgbClr val="94A3B8"/>
                </a:solidFill>
              </a:rPr>
              <a:t>Dossier de présentation technique</a:t>
            </a:r>
            <a:endParaRPr lang="en-US" sz="1800" dirty="0"/>
          </a:p>
        </p:txBody>
      </p:sp>
      <p:sp>
        <p:nvSpPr>
          <p:cNvPr id="6" name="Shape 4"/>
          <p:cNvSpPr/>
          <p:nvPr/>
        </p:nvSpPr>
        <p:spPr>
          <a:xfrm>
            <a:off x="6583680" y="1097280"/>
            <a:ext cx="2377440" cy="2560320"/>
          </a:xfrm>
          <a:prstGeom prst="rect">
            <a:avLst/>
          </a:prstGeom>
          <a:solidFill>
            <a:srgbClr val="1E293B"/>
          </a:solidFill>
          <a:ln w="12700">
            <a:solidFill>
              <a:srgbClr val="EDE9FE"/>
            </a:solidFill>
            <a:prstDash val="solid"/>
          </a:ln>
          <a:effectLst>
            <a:outerShdw sx="100000" sy="100000" kx="0" ky="0" algn="bl" rotWithShape="0" blurRad="101600" dist="38100" dir="8100000">
              <a:srgbClr val="000000">
                <a:alpha val="10000"/>
              </a:srgbClr>
            </a:outerShdw>
          </a:effectLst>
        </p:spPr>
      </p:sp>
      <p:sp>
        <p:nvSpPr>
          <p:cNvPr id="7" name="Text 5"/>
          <p:cNvSpPr/>
          <p:nvPr/>
        </p:nvSpPr>
        <p:spPr>
          <a:xfrm>
            <a:off x="6675120" y="1234440"/>
            <a:ext cx="2194560" cy="292608"/>
          </a:xfrm>
          <a:prstGeom prst="rect">
            <a:avLst/>
          </a:prstGeom>
          <a:noFill/>
          <a:ln/>
        </p:spPr>
        <p:txBody>
          <a:bodyPr wrap="square" lIns="0" tIns="0" rIns="0" bIns="0" rtlCol="0" anchor="ctr"/>
          <a:lstStyle/>
          <a:p>
            <a:pPr algn="l" indent="0" marL="0">
              <a:buNone/>
            </a:pPr>
            <a:r>
              <a:rPr lang="en-US" sz="1100" b="1" dirty="0">
                <a:solidFill>
                  <a:srgbClr val="7C3AED"/>
                </a:solidFill>
              </a:rPr>
              <a:t>Équipe Neptune</a:t>
            </a:r>
            <a:endParaRPr lang="en-US" sz="1100" dirty="0"/>
          </a:p>
        </p:txBody>
      </p:sp>
      <p:sp>
        <p:nvSpPr>
          <p:cNvPr id="8" name="Text 6"/>
          <p:cNvSpPr/>
          <p:nvPr/>
        </p:nvSpPr>
        <p:spPr>
          <a:xfrm>
            <a:off x="6675120" y="1554480"/>
            <a:ext cx="2194560" cy="237744"/>
          </a:xfrm>
          <a:prstGeom prst="rect">
            <a:avLst/>
          </a:prstGeom>
          <a:noFill/>
          <a:ln/>
        </p:spPr>
        <p:txBody>
          <a:bodyPr wrap="square" lIns="0" tIns="0" rIns="0" bIns="0" rtlCol="0" anchor="ctr"/>
          <a:lstStyle/>
          <a:p>
            <a:pPr algn="l" indent="0" marL="0">
              <a:buNone/>
            </a:pPr>
            <a:r>
              <a:rPr lang="en-US" sz="1100" dirty="0">
                <a:solidFill>
                  <a:srgbClr val="FFFFFF"/>
                </a:solidFill>
              </a:rPr>
              <a:t>• Tom Farge</a:t>
            </a:r>
            <a:endParaRPr lang="en-US" sz="1100" dirty="0"/>
          </a:p>
        </p:txBody>
      </p:sp>
      <p:sp>
        <p:nvSpPr>
          <p:cNvPr id="9" name="Text 7"/>
          <p:cNvSpPr/>
          <p:nvPr/>
        </p:nvSpPr>
        <p:spPr>
          <a:xfrm>
            <a:off x="6675120" y="1810512"/>
            <a:ext cx="2194560" cy="237744"/>
          </a:xfrm>
          <a:prstGeom prst="rect">
            <a:avLst/>
          </a:prstGeom>
          <a:noFill/>
          <a:ln/>
        </p:spPr>
        <p:txBody>
          <a:bodyPr wrap="square" lIns="0" tIns="0" rIns="0" bIns="0" rtlCol="0" anchor="ctr"/>
          <a:lstStyle/>
          <a:p>
            <a:pPr algn="l" indent="0" marL="0">
              <a:buNone/>
            </a:pPr>
            <a:r>
              <a:rPr lang="en-US" sz="1100" dirty="0">
                <a:solidFill>
                  <a:srgbClr val="FFFFFF"/>
                </a:solidFill>
              </a:rPr>
              <a:t>• Islem</a:t>
            </a:r>
            <a:endParaRPr lang="en-US" sz="1100" dirty="0"/>
          </a:p>
        </p:txBody>
      </p:sp>
      <p:sp>
        <p:nvSpPr>
          <p:cNvPr id="10" name="Text 8"/>
          <p:cNvSpPr/>
          <p:nvPr/>
        </p:nvSpPr>
        <p:spPr>
          <a:xfrm>
            <a:off x="6675120" y="2066544"/>
            <a:ext cx="2194560" cy="237744"/>
          </a:xfrm>
          <a:prstGeom prst="rect">
            <a:avLst/>
          </a:prstGeom>
          <a:noFill/>
          <a:ln/>
        </p:spPr>
        <p:txBody>
          <a:bodyPr wrap="square" lIns="0" tIns="0" rIns="0" bIns="0" rtlCol="0" anchor="ctr"/>
          <a:lstStyle/>
          <a:p>
            <a:pPr algn="l" indent="0" marL="0">
              <a:buNone/>
            </a:pPr>
            <a:r>
              <a:rPr lang="en-US" sz="1100" dirty="0">
                <a:solidFill>
                  <a:srgbClr val="FFFFFF"/>
                </a:solidFill>
              </a:rPr>
              <a:t>• Manon</a:t>
            </a:r>
            <a:endParaRPr lang="en-US" sz="1100" dirty="0"/>
          </a:p>
        </p:txBody>
      </p:sp>
      <p:sp>
        <p:nvSpPr>
          <p:cNvPr id="11" name="Text 9"/>
          <p:cNvSpPr/>
          <p:nvPr/>
        </p:nvSpPr>
        <p:spPr>
          <a:xfrm>
            <a:off x="6675120" y="2322576"/>
            <a:ext cx="2194560" cy="237744"/>
          </a:xfrm>
          <a:prstGeom prst="rect">
            <a:avLst/>
          </a:prstGeom>
          <a:noFill/>
          <a:ln/>
        </p:spPr>
        <p:txBody>
          <a:bodyPr wrap="square" lIns="0" tIns="0" rIns="0" bIns="0" rtlCol="0" anchor="ctr"/>
          <a:lstStyle/>
          <a:p>
            <a:pPr algn="l" indent="0" marL="0">
              <a:buNone/>
            </a:pPr>
            <a:r>
              <a:rPr lang="en-US" sz="1100" dirty="0">
                <a:solidFill>
                  <a:srgbClr val="FFFFFF"/>
                </a:solidFill>
              </a:rPr>
              <a:t>• Seife</a:t>
            </a:r>
            <a:endParaRPr lang="en-US" sz="1100" dirty="0"/>
          </a:p>
        </p:txBody>
      </p:sp>
      <p:sp>
        <p:nvSpPr>
          <p:cNvPr id="12" name="Text 10"/>
          <p:cNvSpPr/>
          <p:nvPr/>
        </p:nvSpPr>
        <p:spPr>
          <a:xfrm>
            <a:off x="6675120" y="3429000"/>
            <a:ext cx="2194560" cy="228600"/>
          </a:xfrm>
          <a:prstGeom prst="rect">
            <a:avLst/>
          </a:prstGeom>
          <a:noFill/>
          <a:ln/>
        </p:spPr>
        <p:txBody>
          <a:bodyPr wrap="square" lIns="0" tIns="0" rIns="0" bIns="0" rtlCol="0" anchor="ctr"/>
          <a:lstStyle/>
          <a:p>
            <a:pPr algn="l" indent="0" marL="0">
              <a:buNone/>
            </a:pPr>
            <a:r>
              <a:rPr lang="en-US" sz="1000" dirty="0">
                <a:solidFill>
                  <a:srgbClr val="94A3B8"/>
                </a:solidFill>
              </a:rPr>
              <a:t>Mai 2026</a:t>
            </a:r>
            <a:endParaRPr lang="en-US" sz="1000" dirty="0"/>
          </a:p>
        </p:txBody>
      </p:sp>
      <p:sp>
        <p:nvSpPr>
          <p:cNvPr id="13" name="Shape 11"/>
          <p:cNvSpPr/>
          <p:nvPr/>
        </p:nvSpPr>
        <p:spPr>
          <a:xfrm>
            <a:off x="365760" y="4617720"/>
            <a:ext cx="1645920" cy="274320"/>
          </a:xfrm>
          <a:prstGeom prst="roundRect">
            <a:avLst>
              <a:gd name="adj" fmla="val 50000"/>
            </a:avLst>
          </a:prstGeom>
          <a:solidFill>
            <a:srgbClr val="7C3AED">
              <a:alpha val="15000"/>
            </a:srgbClr>
          </a:solidFill>
          <a:ln w="12700">
            <a:solidFill>
              <a:srgbClr val="7C3AED"/>
            </a:solidFill>
            <a:prstDash val="solid"/>
          </a:ln>
        </p:spPr>
      </p:sp>
      <p:sp>
        <p:nvSpPr>
          <p:cNvPr id="14" name="Text 12"/>
          <p:cNvSpPr/>
          <p:nvPr/>
        </p:nvSpPr>
        <p:spPr>
          <a:xfrm>
            <a:off x="365760" y="4617720"/>
            <a:ext cx="1645920" cy="274320"/>
          </a:xfrm>
          <a:prstGeom prst="rect">
            <a:avLst/>
          </a:prstGeom>
          <a:noFill/>
          <a:ln/>
        </p:spPr>
        <p:txBody>
          <a:bodyPr wrap="square" lIns="0" tIns="0" rIns="0" bIns="0" rtlCol="0" anchor="ctr"/>
          <a:lstStyle/>
          <a:p>
            <a:pPr algn="ctr" indent="0" marL="0">
              <a:buNone/>
            </a:pPr>
            <a:r>
              <a:rPr lang="en-US" sz="900" b="1" dirty="0">
                <a:solidFill>
                  <a:srgbClr val="7C3AED"/>
                </a:solidFill>
              </a:rPr>
              <a:t>Flutter</a:t>
            </a:r>
            <a:endParaRPr lang="en-US" sz="900" dirty="0"/>
          </a:p>
        </p:txBody>
      </p:sp>
      <p:sp>
        <p:nvSpPr>
          <p:cNvPr id="15" name="Shape 13"/>
          <p:cNvSpPr/>
          <p:nvPr/>
        </p:nvSpPr>
        <p:spPr>
          <a:xfrm>
            <a:off x="1783080" y="4617720"/>
            <a:ext cx="1645920" cy="274320"/>
          </a:xfrm>
          <a:prstGeom prst="roundRect">
            <a:avLst>
              <a:gd name="adj" fmla="val 50000"/>
            </a:avLst>
          </a:prstGeom>
          <a:solidFill>
            <a:srgbClr val="7C3AED">
              <a:alpha val="15000"/>
            </a:srgbClr>
          </a:solidFill>
          <a:ln w="12700">
            <a:solidFill>
              <a:srgbClr val="7C3AED"/>
            </a:solidFill>
            <a:prstDash val="solid"/>
          </a:ln>
        </p:spPr>
      </p:sp>
      <p:sp>
        <p:nvSpPr>
          <p:cNvPr id="16" name="Text 14"/>
          <p:cNvSpPr/>
          <p:nvPr/>
        </p:nvSpPr>
        <p:spPr>
          <a:xfrm>
            <a:off x="1783080" y="4617720"/>
            <a:ext cx="1645920" cy="274320"/>
          </a:xfrm>
          <a:prstGeom prst="rect">
            <a:avLst/>
          </a:prstGeom>
          <a:noFill/>
          <a:ln/>
        </p:spPr>
        <p:txBody>
          <a:bodyPr wrap="square" lIns="0" tIns="0" rIns="0" bIns="0" rtlCol="0" anchor="ctr"/>
          <a:lstStyle/>
          <a:p>
            <a:pPr algn="ctr" indent="0" marL="0">
              <a:buNone/>
            </a:pPr>
            <a:r>
              <a:rPr lang="en-US" sz="900" b="1" dirty="0">
                <a:solidFill>
                  <a:srgbClr val="7C3AED"/>
                </a:solidFill>
              </a:rPr>
              <a:t>Dart</a:t>
            </a:r>
            <a:endParaRPr lang="en-US" sz="900" dirty="0"/>
          </a:p>
        </p:txBody>
      </p:sp>
      <p:sp>
        <p:nvSpPr>
          <p:cNvPr id="17" name="Shape 15"/>
          <p:cNvSpPr/>
          <p:nvPr/>
        </p:nvSpPr>
        <p:spPr>
          <a:xfrm>
            <a:off x="3200400" y="4617720"/>
            <a:ext cx="1645920" cy="274320"/>
          </a:xfrm>
          <a:prstGeom prst="roundRect">
            <a:avLst>
              <a:gd name="adj" fmla="val 50000"/>
            </a:avLst>
          </a:prstGeom>
          <a:solidFill>
            <a:srgbClr val="7C3AED">
              <a:alpha val="15000"/>
            </a:srgbClr>
          </a:solidFill>
          <a:ln w="12700">
            <a:solidFill>
              <a:srgbClr val="7C3AED"/>
            </a:solidFill>
            <a:prstDash val="solid"/>
          </a:ln>
        </p:spPr>
      </p:sp>
      <p:sp>
        <p:nvSpPr>
          <p:cNvPr id="18" name="Text 16"/>
          <p:cNvSpPr/>
          <p:nvPr/>
        </p:nvSpPr>
        <p:spPr>
          <a:xfrm>
            <a:off x="3200400" y="4617720"/>
            <a:ext cx="1645920" cy="274320"/>
          </a:xfrm>
          <a:prstGeom prst="rect">
            <a:avLst/>
          </a:prstGeom>
          <a:noFill/>
          <a:ln/>
        </p:spPr>
        <p:txBody>
          <a:bodyPr wrap="square" lIns="0" tIns="0" rIns="0" bIns="0" rtlCol="0" anchor="ctr"/>
          <a:lstStyle/>
          <a:p>
            <a:pPr algn="ctr" indent="0" marL="0">
              <a:buNone/>
            </a:pPr>
            <a:r>
              <a:rPr lang="en-US" sz="900" b="1" dirty="0">
                <a:solidFill>
                  <a:srgbClr val="7C3AED"/>
                </a:solidFill>
              </a:rPr>
              <a:t>Isar</a:t>
            </a:r>
            <a:endParaRPr lang="en-US" sz="900" dirty="0"/>
          </a:p>
        </p:txBody>
      </p:sp>
      <p:sp>
        <p:nvSpPr>
          <p:cNvPr id="19" name="Shape 17"/>
          <p:cNvSpPr/>
          <p:nvPr/>
        </p:nvSpPr>
        <p:spPr>
          <a:xfrm>
            <a:off x="4617720" y="4617720"/>
            <a:ext cx="1645920" cy="274320"/>
          </a:xfrm>
          <a:prstGeom prst="roundRect">
            <a:avLst>
              <a:gd name="adj" fmla="val 50000"/>
            </a:avLst>
          </a:prstGeom>
          <a:solidFill>
            <a:srgbClr val="7C3AED">
              <a:alpha val="15000"/>
            </a:srgbClr>
          </a:solidFill>
          <a:ln w="12700">
            <a:solidFill>
              <a:srgbClr val="7C3AED"/>
            </a:solidFill>
            <a:prstDash val="solid"/>
          </a:ln>
        </p:spPr>
      </p:sp>
      <p:sp>
        <p:nvSpPr>
          <p:cNvPr id="20" name="Text 18"/>
          <p:cNvSpPr/>
          <p:nvPr/>
        </p:nvSpPr>
        <p:spPr>
          <a:xfrm>
            <a:off x="4617720" y="4617720"/>
            <a:ext cx="1645920" cy="274320"/>
          </a:xfrm>
          <a:prstGeom prst="rect">
            <a:avLst/>
          </a:prstGeom>
          <a:noFill/>
          <a:ln/>
        </p:spPr>
        <p:txBody>
          <a:bodyPr wrap="square" lIns="0" tIns="0" rIns="0" bIns="0" rtlCol="0" anchor="ctr"/>
          <a:lstStyle/>
          <a:p>
            <a:pPr algn="ctr" indent="0" marL="0">
              <a:buNone/>
            </a:pPr>
            <a:r>
              <a:rPr lang="en-US" sz="900" b="1" dirty="0">
                <a:solidFill>
                  <a:srgbClr val="7C3AED"/>
                </a:solidFill>
              </a:rPr>
              <a:t>Riverpod</a:t>
            </a:r>
            <a:endParaRPr lang="en-US" sz="900" dirty="0"/>
          </a:p>
        </p:txBody>
      </p:sp>
      <p:sp>
        <p:nvSpPr>
          <p:cNvPr id="21" name="Shape 19"/>
          <p:cNvSpPr/>
          <p:nvPr/>
        </p:nvSpPr>
        <p:spPr>
          <a:xfrm>
            <a:off x="6035040" y="4617720"/>
            <a:ext cx="1645920" cy="274320"/>
          </a:xfrm>
          <a:prstGeom prst="roundRect">
            <a:avLst>
              <a:gd name="adj" fmla="val 50000"/>
            </a:avLst>
          </a:prstGeom>
          <a:solidFill>
            <a:srgbClr val="7C3AED">
              <a:alpha val="15000"/>
            </a:srgbClr>
          </a:solidFill>
          <a:ln w="12700">
            <a:solidFill>
              <a:srgbClr val="7C3AED"/>
            </a:solidFill>
            <a:prstDash val="solid"/>
          </a:ln>
        </p:spPr>
      </p:sp>
      <p:sp>
        <p:nvSpPr>
          <p:cNvPr id="22" name="Text 20"/>
          <p:cNvSpPr/>
          <p:nvPr/>
        </p:nvSpPr>
        <p:spPr>
          <a:xfrm>
            <a:off x="6035040" y="4617720"/>
            <a:ext cx="1645920" cy="274320"/>
          </a:xfrm>
          <a:prstGeom prst="rect">
            <a:avLst/>
          </a:prstGeom>
          <a:noFill/>
          <a:ln/>
        </p:spPr>
        <p:txBody>
          <a:bodyPr wrap="square" lIns="0" tIns="0" rIns="0" bIns="0" rtlCol="0" anchor="ctr"/>
          <a:lstStyle/>
          <a:p>
            <a:pPr algn="ctr" indent="0" marL="0">
              <a:buNone/>
            </a:pPr>
            <a:r>
              <a:rPr lang="en-US" sz="900" b="1" dirty="0">
                <a:solidFill>
                  <a:srgbClr val="7C3AED"/>
                </a:solidFill>
              </a:rPr>
              <a:t>Firebase</a:t>
            </a:r>
            <a:endParaRPr lang="en-US" sz="900" dirty="0"/>
          </a:p>
        </p:txBody>
      </p:sp>
      <p:sp>
        <p:nvSpPr>
          <p:cNvPr id="23" name="Shape 21"/>
          <p:cNvSpPr/>
          <p:nvPr/>
        </p:nvSpPr>
        <p:spPr>
          <a:xfrm>
            <a:off x="7452360" y="4617720"/>
            <a:ext cx="1645920" cy="274320"/>
          </a:xfrm>
          <a:prstGeom prst="roundRect">
            <a:avLst>
              <a:gd name="adj" fmla="val 50000"/>
            </a:avLst>
          </a:prstGeom>
          <a:solidFill>
            <a:srgbClr val="7C3AED">
              <a:alpha val="15000"/>
            </a:srgbClr>
          </a:solidFill>
          <a:ln w="12700">
            <a:solidFill>
              <a:srgbClr val="7C3AED"/>
            </a:solidFill>
            <a:prstDash val="solid"/>
          </a:ln>
        </p:spPr>
      </p:sp>
      <p:sp>
        <p:nvSpPr>
          <p:cNvPr id="24" name="Text 22"/>
          <p:cNvSpPr/>
          <p:nvPr/>
        </p:nvSpPr>
        <p:spPr>
          <a:xfrm>
            <a:off x="7452360" y="4617720"/>
            <a:ext cx="1645920" cy="274320"/>
          </a:xfrm>
          <a:prstGeom prst="rect">
            <a:avLst/>
          </a:prstGeom>
          <a:noFill/>
          <a:ln/>
        </p:spPr>
        <p:txBody>
          <a:bodyPr wrap="square" lIns="0" tIns="0" rIns="0" bIns="0" rtlCol="0" anchor="ctr"/>
          <a:lstStyle/>
          <a:p>
            <a:pPr algn="ctr" indent="0" marL="0">
              <a:buNone/>
            </a:pPr>
            <a:r>
              <a:rPr lang="en-US" sz="900" b="1" dirty="0">
                <a:solidFill>
                  <a:srgbClr val="7C3AED"/>
                </a:solidFill>
              </a:rPr>
              <a:t>Stripe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algn="l" indent="0" marL="0">
              <a:buNone/>
            </a:pPr>
            <a:r>
              <a:rPr lang="en-US" sz="2800" b="1" dirty="0">
                <a:solidFill>
                  <a:srgbClr val="7C3AED"/>
                </a:solidFill>
              </a:rPr>
              <a:t>Le problème · La solution</a:t>
            </a:r>
            <a:endParaRPr lang="en-US" sz="2800" dirty="0"/>
          </a:p>
        </p:txBody>
      </p:sp>
      <p:sp>
        <p:nvSpPr>
          <p:cNvPr id="3" name="Shape 1"/>
          <p:cNvSpPr/>
          <p:nvPr/>
        </p:nvSpPr>
        <p:spPr>
          <a:xfrm>
            <a:off x="457200" y="868680"/>
            <a:ext cx="3840480" cy="3474720"/>
          </a:xfrm>
          <a:prstGeom prst="rect">
            <a:avLst/>
          </a:prstGeom>
          <a:solidFill>
            <a:srgbClr val="FFF1F2"/>
          </a:solidFill>
          <a:ln w="19050">
            <a:solidFill>
              <a:srgbClr val="EF4444"/>
            </a:solidFill>
            <a:prstDash val="solid"/>
          </a:ln>
          <a:effectLst>
            <a:outerShdw sx="100000" sy="100000" kx="0" ky="0" algn="bl" rotWithShape="0" blurRad="101600" dist="38100" dir="8100000">
              <a:srgbClr val="000000">
                <a:alpha val="10000"/>
              </a:srgbClr>
            </a:outerShdw>
          </a:effectLst>
        </p:spPr>
      </p:sp>
      <p:sp>
        <p:nvSpPr>
          <p:cNvPr id="4" name="Text 2"/>
          <p:cNvSpPr/>
          <p:nvPr/>
        </p:nvSpPr>
        <p:spPr>
          <a:xfrm>
            <a:off x="640080" y="960120"/>
            <a:ext cx="3474720" cy="347472"/>
          </a:xfrm>
          <a:prstGeom prst="rect">
            <a:avLst/>
          </a:prstGeom>
          <a:noFill/>
          <a:ln/>
        </p:spPr>
        <p:txBody>
          <a:bodyPr wrap="square" lIns="0" tIns="0" rIns="0" bIns="0" rtlCol="0" anchor="ctr"/>
          <a:lstStyle/>
          <a:p>
            <a:pPr algn="l" indent="0" marL="0">
              <a:buNone/>
            </a:pPr>
            <a:r>
              <a:rPr lang="en-US" sz="1500" b="1" dirty="0">
                <a:solidFill>
                  <a:srgbClr val="EF4444"/>
                </a:solidFill>
              </a:rPr>
              <a:t>😩 Problème actuel</a:t>
            </a:r>
            <a:endParaRPr lang="en-US" sz="1500" dirty="0"/>
          </a:p>
        </p:txBody>
      </p:sp>
      <p:sp>
        <p:nvSpPr>
          <p:cNvPr id="5" name="Text 3"/>
          <p:cNvSpPr/>
          <p:nvPr/>
        </p:nvSpPr>
        <p:spPr>
          <a:xfrm>
            <a:off x="640080" y="1417320"/>
            <a:ext cx="3474720" cy="749808"/>
          </a:xfrm>
          <a:prstGeom prst="rect">
            <a:avLst/>
          </a:prstGeom>
          <a:noFill/>
          <a:ln/>
        </p:spPr>
        <p:txBody>
          <a:bodyPr wrap="square" lIns="0" tIns="0" rIns="0" bIns="0" rtlCol="0" anchor="ctr"/>
          <a:lstStyle/>
          <a:p>
            <a:pPr algn="l" indent="0" marL="0">
              <a:buNone/>
            </a:pPr>
            <a:r>
              <a:rPr lang="en-US" sz="1200" dirty="0">
                <a:solidFill>
                  <a:srgbClr val="0F172A"/>
                </a:solidFill>
              </a:rPr>
              <a:t>✗  4-5 applications différentes</a:t>
            </a:r>
            <a:endParaRPr lang="en-US" sz="1200" dirty="0"/>
          </a:p>
          <a:p>
            <a:pPr algn="l" indent="0" marL="0">
              <a:buNone/>
            </a:pPr>
            <a:r>
              <a:rPr lang="en-US" sz="1200" dirty="0">
                <a:solidFill>
                  <a:srgbClr val="0F172A"/>
                </a:solidFill>
              </a:rPr>
              <a:t>pour organiser une sortie</a:t>
            </a:r>
            <a:endParaRPr lang="en-US" sz="1200" dirty="0"/>
          </a:p>
        </p:txBody>
      </p:sp>
      <p:sp>
        <p:nvSpPr>
          <p:cNvPr id="6" name="Text 4"/>
          <p:cNvSpPr/>
          <p:nvPr/>
        </p:nvSpPr>
        <p:spPr>
          <a:xfrm>
            <a:off x="640080" y="2313432"/>
            <a:ext cx="3474720" cy="749808"/>
          </a:xfrm>
          <a:prstGeom prst="rect">
            <a:avLst/>
          </a:prstGeom>
          <a:noFill/>
          <a:ln/>
        </p:spPr>
        <p:txBody>
          <a:bodyPr wrap="square" lIns="0" tIns="0" rIns="0" bIns="0" rtlCol="0" anchor="ctr"/>
          <a:lstStyle/>
          <a:p>
            <a:pPr algn="l" indent="0" marL="0">
              <a:buNone/>
            </a:pPr>
            <a:r>
              <a:rPr lang="en-US" sz="1200" dirty="0">
                <a:solidFill>
                  <a:srgbClr val="0F172A"/>
                </a:solidFill>
              </a:rPr>
              <a:t>✗  Aucune app ne calcule</a:t>
            </a:r>
            <a:endParaRPr lang="en-US" sz="1200" dirty="0"/>
          </a:p>
          <a:p>
            <a:pPr algn="l" indent="0" marL="0">
              <a:buNone/>
            </a:pPr>
            <a:r>
              <a:rPr lang="en-US" sz="1200" dirty="0">
                <a:solidFill>
                  <a:srgbClr val="0F172A"/>
                </a:solidFill>
              </a:rPr>
              <a:t>l'impact carbone du déplacement</a:t>
            </a:r>
            <a:endParaRPr lang="en-US" sz="1200" dirty="0"/>
          </a:p>
        </p:txBody>
      </p:sp>
      <p:sp>
        <p:nvSpPr>
          <p:cNvPr id="7" name="Text 5"/>
          <p:cNvSpPr/>
          <p:nvPr/>
        </p:nvSpPr>
        <p:spPr>
          <a:xfrm>
            <a:off x="640080" y="3209544"/>
            <a:ext cx="3474720" cy="749808"/>
          </a:xfrm>
          <a:prstGeom prst="rect">
            <a:avLst/>
          </a:prstGeom>
          <a:noFill/>
          <a:ln/>
        </p:spPr>
        <p:txBody>
          <a:bodyPr wrap="square" lIns="0" tIns="0" rIns="0" bIns="0" rtlCol="0" anchor="ctr"/>
          <a:lstStyle/>
          <a:p>
            <a:pPr algn="l" indent="0" marL="0">
              <a:buNone/>
            </a:pPr>
            <a:r>
              <a:rPr lang="en-US" sz="1200" dirty="0">
                <a:solidFill>
                  <a:srgbClr val="0F172A"/>
                </a:solidFill>
              </a:rPr>
              <a:t>✗  Les billets ne fonctionnent</a:t>
            </a:r>
            <a:endParaRPr lang="en-US" sz="1200" dirty="0"/>
          </a:p>
          <a:p>
            <a:pPr algn="l" indent="0" marL="0">
              <a:buNone/>
            </a:pPr>
            <a:r>
              <a:rPr lang="en-US" sz="1200" dirty="0">
                <a:solidFill>
                  <a:srgbClr val="0F172A"/>
                </a:solidFill>
              </a:rPr>
              <a:t>pas sans connexion</a:t>
            </a:r>
            <a:endParaRPr lang="en-US" sz="1200" dirty="0"/>
          </a:p>
        </p:txBody>
      </p:sp>
      <p:sp>
        <p:nvSpPr>
          <p:cNvPr id="8" name="Shape 6"/>
          <p:cNvSpPr/>
          <p:nvPr/>
        </p:nvSpPr>
        <p:spPr>
          <a:xfrm>
            <a:off x="4434840" y="2606040"/>
            <a:ext cx="548640" cy="0"/>
          </a:xfrm>
          <a:prstGeom prst="line">
            <a:avLst/>
          </a:prstGeom>
          <a:noFill/>
          <a:ln w="38100">
            <a:solidFill>
              <a:srgbClr val="7C3AED"/>
            </a:solidFill>
            <a:prstDash val="solid"/>
          </a:ln>
        </p:spPr>
      </p:sp>
      <p:sp>
        <p:nvSpPr>
          <p:cNvPr id="9" name="Text 7"/>
          <p:cNvSpPr/>
          <p:nvPr/>
        </p:nvSpPr>
        <p:spPr>
          <a:xfrm>
            <a:off x="4663440" y="2377440"/>
            <a:ext cx="457200" cy="457200"/>
          </a:xfrm>
          <a:prstGeom prst="rect">
            <a:avLst/>
          </a:prstGeom>
          <a:noFill/>
          <a:ln/>
        </p:spPr>
        <p:txBody>
          <a:bodyPr wrap="square" lIns="0" tIns="0" rIns="0" bIns="0" rtlCol="0" anchor="ctr"/>
          <a:lstStyle/>
          <a:p>
            <a:pPr algn="ctr" indent="0" marL="0">
              <a:buNone/>
            </a:pPr>
            <a:r>
              <a:rPr lang="en-US" sz="2600" b="1" dirty="0">
                <a:solidFill>
                  <a:srgbClr val="7C3AED"/>
                </a:solidFill>
              </a:rPr>
              <a:t>→</a:t>
            </a:r>
            <a:endParaRPr lang="en-US" sz="2600" dirty="0"/>
          </a:p>
        </p:txBody>
      </p:sp>
      <p:sp>
        <p:nvSpPr>
          <p:cNvPr id="10" name="Shape 8"/>
          <p:cNvSpPr/>
          <p:nvPr/>
        </p:nvSpPr>
        <p:spPr>
          <a:xfrm>
            <a:off x="5029200" y="868680"/>
            <a:ext cx="3840480" cy="3474720"/>
          </a:xfrm>
          <a:prstGeom prst="rect">
            <a:avLst/>
          </a:prstGeom>
          <a:solidFill>
            <a:srgbClr val="F0FDF4"/>
          </a:solidFill>
          <a:ln w="19050">
            <a:solidFill>
              <a:srgbClr val="10B981"/>
            </a:solidFill>
            <a:prstDash val="solid"/>
          </a:ln>
          <a:effectLst>
            <a:outerShdw sx="100000" sy="100000" kx="0" ky="0" algn="bl" rotWithShape="0" blurRad="101600" dist="38100" dir="8100000">
              <a:srgbClr val="000000">
                <a:alpha val="10000"/>
              </a:srgbClr>
            </a:outerShdw>
          </a:effectLst>
        </p:spPr>
      </p:sp>
      <p:sp>
        <p:nvSpPr>
          <p:cNvPr id="11" name="Text 9"/>
          <p:cNvSpPr/>
          <p:nvPr/>
        </p:nvSpPr>
        <p:spPr>
          <a:xfrm>
            <a:off x="5212080" y="960120"/>
            <a:ext cx="3474720" cy="347472"/>
          </a:xfrm>
          <a:prstGeom prst="rect">
            <a:avLst/>
          </a:prstGeom>
          <a:noFill/>
          <a:ln/>
        </p:spPr>
        <p:txBody>
          <a:bodyPr wrap="square" lIns="0" tIns="0" rIns="0" bIns="0" rtlCol="0" anchor="ctr"/>
          <a:lstStyle/>
          <a:p>
            <a:pPr algn="l" indent="0" marL="0">
              <a:buNone/>
            </a:pPr>
            <a:r>
              <a:rPr lang="en-US" sz="1500" b="1" dirty="0">
                <a:solidFill>
                  <a:srgbClr val="10B981"/>
                </a:solidFill>
              </a:rPr>
              <a:t>✅ Pulsar</a:t>
            </a:r>
            <a:endParaRPr lang="en-US" sz="1500" dirty="0"/>
          </a:p>
        </p:txBody>
      </p:sp>
      <p:sp>
        <p:nvSpPr>
          <p:cNvPr id="12" name="Text 10"/>
          <p:cNvSpPr/>
          <p:nvPr/>
        </p:nvSpPr>
        <p:spPr>
          <a:xfrm>
            <a:off x="5212080" y="1417320"/>
            <a:ext cx="3474720" cy="749808"/>
          </a:xfrm>
          <a:prstGeom prst="rect">
            <a:avLst/>
          </a:prstGeom>
          <a:noFill/>
          <a:ln/>
        </p:spPr>
        <p:txBody>
          <a:bodyPr wrap="square" lIns="0" tIns="0" rIns="0" bIns="0" rtlCol="0" anchor="ctr"/>
          <a:lstStyle/>
          <a:p>
            <a:pPr algn="l" indent="0" marL="0">
              <a:buNone/>
            </a:pPr>
            <a:r>
              <a:rPr lang="en-US" sz="1200" dirty="0">
                <a:solidFill>
                  <a:srgbClr val="0F172A"/>
                </a:solidFill>
              </a:rPr>
              <a:t>✓  Billet + Transport + Hébergement</a:t>
            </a:r>
            <a:endParaRPr lang="en-US" sz="1200" dirty="0"/>
          </a:p>
          <a:p>
            <a:pPr algn="l" indent="0" marL="0">
              <a:buNone/>
            </a:pPr>
            <a:r>
              <a:rPr lang="en-US" sz="1200" dirty="0">
                <a:solidFill>
                  <a:srgbClr val="0F172A"/>
                </a:solidFill>
              </a:rPr>
              <a:t>dans une seule application</a:t>
            </a:r>
            <a:endParaRPr lang="en-US" sz="1200" dirty="0"/>
          </a:p>
        </p:txBody>
      </p:sp>
      <p:sp>
        <p:nvSpPr>
          <p:cNvPr id="13" name="Text 11"/>
          <p:cNvSpPr/>
          <p:nvPr/>
        </p:nvSpPr>
        <p:spPr>
          <a:xfrm>
            <a:off x="5212080" y="2313432"/>
            <a:ext cx="3474720" cy="749808"/>
          </a:xfrm>
          <a:prstGeom prst="rect">
            <a:avLst/>
          </a:prstGeom>
          <a:noFill/>
          <a:ln/>
        </p:spPr>
        <p:txBody>
          <a:bodyPr wrap="square" lIns="0" tIns="0" rIns="0" bIns="0" rtlCol="0" anchor="ctr"/>
          <a:lstStyle/>
          <a:p>
            <a:pPr algn="l" indent="0" marL="0">
              <a:buNone/>
            </a:pPr>
            <a:r>
              <a:rPr lang="en-US" sz="1200" dirty="0">
                <a:solidFill>
                  <a:srgbClr val="0F172A"/>
                </a:solidFill>
              </a:rPr>
              <a:t>✓  Calcul CO₂ ADEME intégré</a:t>
            </a:r>
            <a:endParaRPr lang="en-US" sz="1200" dirty="0"/>
          </a:p>
          <a:p>
            <a:pPr algn="l" indent="0" marL="0">
              <a:buNone/>
            </a:pPr>
            <a:r>
              <a:rPr lang="en-US" sz="1200" dirty="0">
                <a:solidFill>
                  <a:srgbClr val="0F172A"/>
                </a:solidFill>
              </a:rPr>
              <a:t>et éco-score personnel</a:t>
            </a:r>
            <a:endParaRPr lang="en-US" sz="1200" dirty="0"/>
          </a:p>
        </p:txBody>
      </p:sp>
      <p:sp>
        <p:nvSpPr>
          <p:cNvPr id="14" name="Text 12"/>
          <p:cNvSpPr/>
          <p:nvPr/>
        </p:nvSpPr>
        <p:spPr>
          <a:xfrm>
            <a:off x="5212080" y="3209544"/>
            <a:ext cx="3474720" cy="749808"/>
          </a:xfrm>
          <a:prstGeom prst="rect">
            <a:avLst/>
          </a:prstGeom>
          <a:noFill/>
          <a:ln/>
        </p:spPr>
        <p:txBody>
          <a:bodyPr wrap="square" lIns="0" tIns="0" rIns="0" bIns="0" rtlCol="0" anchor="ctr"/>
          <a:lstStyle/>
          <a:p>
            <a:pPr algn="l" indent="0" marL="0">
              <a:buNone/>
            </a:pPr>
            <a:r>
              <a:rPr lang="en-US" sz="1200" dirty="0">
                <a:solidFill>
                  <a:srgbClr val="0F172A"/>
                </a:solidFill>
              </a:rPr>
              <a:t>✓  Mode offline-first : billets</a:t>
            </a:r>
            <a:endParaRPr lang="en-US" sz="1200" dirty="0"/>
          </a:p>
          <a:p>
            <a:pPr algn="l" indent="0" marL="0">
              <a:buNone/>
            </a:pPr>
            <a:r>
              <a:rPr lang="en-US" sz="1200" dirty="0">
                <a:solidFill>
                  <a:srgbClr val="0F172A"/>
                </a:solidFill>
              </a:rPr>
              <a:t>accessibles sans réseau</a:t>
            </a:r>
            <a:endParaRPr lang="en-US" sz="1200" dirty="0"/>
          </a:p>
        </p:txBody>
      </p:sp>
      <p:sp>
        <p:nvSpPr>
          <p:cNvPr id="15" name="Shape 13"/>
          <p:cNvSpPr/>
          <p:nvPr/>
        </p:nvSpPr>
        <p:spPr>
          <a:xfrm>
            <a:off x="457200" y="4526280"/>
            <a:ext cx="8412480" cy="457200"/>
          </a:xfrm>
          <a:prstGeom prst="rect">
            <a:avLst/>
          </a:prstGeom>
          <a:solidFill>
            <a:srgbClr val="EDE9FE"/>
          </a:solidFill>
          <a:ln w="12700">
            <a:solidFill>
              <a:srgbClr val="EDE9FE"/>
            </a:solidFill>
            <a:prstDash val="solid"/>
          </a:ln>
        </p:spPr>
      </p:sp>
      <p:sp>
        <p:nvSpPr>
          <p:cNvPr id="16" name="Text 14"/>
          <p:cNvSpPr/>
          <p:nvPr/>
        </p:nvSpPr>
        <p:spPr>
          <a:xfrm>
            <a:off x="548640" y="4544568"/>
            <a:ext cx="8229600" cy="411480"/>
          </a:xfrm>
          <a:prstGeom prst="rect">
            <a:avLst/>
          </a:prstGeom>
          <a:noFill/>
          <a:ln/>
        </p:spPr>
        <p:txBody>
          <a:bodyPr wrap="square" lIns="0" tIns="0" rIns="0" bIns="0" rtlCol="0" anchor="ctr"/>
          <a:lstStyle/>
          <a:p>
            <a:pPr algn="ctr" indent="0" marL="0">
              <a:buNone/>
            </a:pPr>
            <a:r>
              <a:rPr lang="en-US" sz="1000" dirty="0">
                <a:solidFill>
                  <a:srgbClr val="7C3AED"/>
                </a:solidFill>
              </a:rPr>
              <a:t>MVP : billetterie + transport + hébergement  ·  Cibles : Android, iOS, Web  ·  Stack : Flutter + Firebase + Stripe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lIns="0" tIns="0" rIns="0" bIns="0" rtlCol="0" anchor="ctr"/>
          <a:lstStyle/>
          <a:p>
            <a:pPr algn="l" indent="0" marL="0">
              <a:buNone/>
            </a:pPr>
            <a:r>
              <a:rPr lang="en-US" sz="2800" b="1" dirty="0">
                <a:solidFill>
                  <a:srgbClr val="7C3AED"/>
                </a:solidFill>
              </a:rPr>
              <a:t>Pourquoi Flutter ?</a:t>
            </a:r>
            <a:endParaRPr lang="en-US" sz="2800" dirty="0"/>
          </a:p>
        </p:txBody>
      </p:sp>
      <p:sp>
        <p:nvSpPr>
          <p:cNvPr id="3" name="Text 1"/>
          <p:cNvSpPr/>
          <p:nvPr/>
        </p:nvSpPr>
        <p:spPr>
          <a:xfrm>
            <a:off x="457200" y="749808"/>
            <a:ext cx="8229600" cy="274320"/>
          </a:xfrm>
          <a:prstGeom prst="rect">
            <a:avLst/>
          </a:prstGeom>
          <a:noFill/>
          <a:ln/>
        </p:spPr>
        <p:txBody>
          <a:bodyPr wrap="square" lIns="0" tIns="0" rIns="0" bIns="0" rtlCol="0" anchor="ctr"/>
          <a:lstStyle/>
          <a:p>
            <a:pPr algn="l" indent="0" marL="0">
              <a:buNone/>
            </a:pPr>
            <a:r>
              <a:rPr lang="en-US" sz="1200" dirty="0">
                <a:solidFill>
                  <a:srgbClr val="94A3B8"/>
                </a:solidFill>
              </a:rPr>
              <a:t>Un seul code → 3 plateformes · Performances natives · Offline-first mature</a:t>
            </a:r>
            <a:endParaRPr lang="en-US" sz="1200" dirty="0"/>
          </a:p>
        </p:txBody>
      </p:sp>
      <p:sp>
        <p:nvSpPr>
          <p:cNvPr id="4" name="Shape 2"/>
          <p:cNvSpPr/>
          <p:nvPr/>
        </p:nvSpPr>
        <p:spPr>
          <a:xfrm>
            <a:off x="457200" y="1097280"/>
            <a:ext cx="1828800" cy="384048"/>
          </a:xfrm>
          <a:prstGeom prst="roundRect">
            <a:avLst>
              <a:gd name="adj" fmla="val 119048"/>
            </a:avLst>
          </a:prstGeom>
          <a:solidFill>
            <a:srgbClr val="10B981"/>
          </a:solidFill>
          <a:ln w="12700">
            <a:solidFill>
              <a:srgbClr val="10B981"/>
            </a:solidFill>
            <a:prstDash val="solid"/>
          </a:ln>
          <a:effectLst>
            <a:outerShdw sx="100000" sy="100000" kx="0" ky="0" algn="bl" rotWithShape="0" blurRad="101600" dist="38100" dir="8100000">
              <a:srgbClr val="000000">
                <a:alpha val="10000"/>
              </a:srgbClr>
            </a:outerShdw>
          </a:effectLst>
        </p:spPr>
      </p:sp>
      <p:sp>
        <p:nvSpPr>
          <p:cNvPr id="5" name="Text 3"/>
          <p:cNvSpPr/>
          <p:nvPr/>
        </p:nvSpPr>
        <p:spPr>
          <a:xfrm>
            <a:off x="457200" y="109728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rPr>
              <a:t>Android</a:t>
            </a:r>
            <a:endParaRPr lang="en-US" sz="1000" dirty="0"/>
          </a:p>
        </p:txBody>
      </p:sp>
      <p:sp>
        <p:nvSpPr>
          <p:cNvPr id="6" name="Shape 4"/>
          <p:cNvSpPr/>
          <p:nvPr/>
        </p:nvSpPr>
        <p:spPr>
          <a:xfrm>
            <a:off x="2743200" y="1097280"/>
            <a:ext cx="1828800" cy="384048"/>
          </a:xfrm>
          <a:prstGeom prst="roundRect">
            <a:avLst>
              <a:gd name="adj" fmla="val 119048"/>
            </a:avLst>
          </a:prstGeom>
          <a:solidFill>
            <a:srgbClr val="7C3AED"/>
          </a:solidFill>
          <a:ln w="12700">
            <a:solidFill>
              <a:srgbClr val="7C3AED"/>
            </a:solidFill>
            <a:prstDash val="solid"/>
          </a:ln>
          <a:effectLst>
            <a:outerShdw sx="100000" sy="100000" kx="0" ky="0" algn="bl" rotWithShape="0" blurRad="101600" dist="38100" dir="8100000">
              <a:srgbClr val="000000">
                <a:alpha val="10000"/>
              </a:srgbClr>
            </a:outerShdw>
          </a:effectLst>
        </p:spPr>
      </p:sp>
      <p:sp>
        <p:nvSpPr>
          <p:cNvPr id="7" name="Text 5"/>
          <p:cNvSpPr/>
          <p:nvPr/>
        </p:nvSpPr>
        <p:spPr>
          <a:xfrm>
            <a:off x="2743200" y="109728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rPr>
              <a:t>iOS</a:t>
            </a:r>
            <a:endParaRPr lang="en-US" sz="1000" dirty="0"/>
          </a:p>
        </p:txBody>
      </p:sp>
      <p:sp>
        <p:nvSpPr>
          <p:cNvPr id="8" name="Shape 6"/>
          <p:cNvSpPr/>
          <p:nvPr/>
        </p:nvSpPr>
        <p:spPr>
          <a:xfrm>
            <a:off x="5029200" y="1097280"/>
            <a:ext cx="1828800" cy="384048"/>
          </a:xfrm>
          <a:prstGeom prst="roundRect">
            <a:avLst>
              <a:gd name="adj" fmla="val 119048"/>
            </a:avLst>
          </a:prstGeom>
          <a:solidFill>
            <a:srgbClr val="3B82F6"/>
          </a:solidFill>
          <a:ln w="12700">
            <a:solidFill>
              <a:srgbClr val="3B82F6"/>
            </a:solidFill>
            <a:prstDash val="solid"/>
          </a:ln>
          <a:effectLst>
            <a:outerShdw sx="100000" sy="100000" kx="0" ky="0" algn="bl" rotWithShape="0" blurRad="101600" dist="38100" dir="8100000">
              <a:srgbClr val="000000">
                <a:alpha val="10000"/>
              </a:srgbClr>
            </a:outerShdw>
          </a:effectLst>
        </p:spPr>
      </p:sp>
      <p:sp>
        <p:nvSpPr>
          <p:cNvPr id="9" name="Text 7"/>
          <p:cNvSpPr/>
          <p:nvPr/>
        </p:nvSpPr>
        <p:spPr>
          <a:xfrm>
            <a:off x="5029200" y="109728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rPr>
              <a:t>Web</a:t>
            </a:r>
            <a:endParaRPr lang="en-US" sz="1000" dirty="0"/>
          </a:p>
        </p:txBody>
      </p:sp>
      <p:sp>
        <p:nvSpPr>
          <p:cNvPr id="10" name="Text 8"/>
          <p:cNvSpPr/>
          <p:nvPr/>
        </p:nvSpPr>
        <p:spPr>
          <a:xfrm>
            <a:off x="6492240" y="1097280"/>
            <a:ext cx="2560320" cy="384048"/>
          </a:xfrm>
          <a:prstGeom prst="rect">
            <a:avLst/>
          </a:prstGeom>
          <a:noFill/>
          <a:ln/>
        </p:spPr>
        <p:txBody>
          <a:bodyPr wrap="square" lIns="0" tIns="0" rIns="0" bIns="0" rtlCol="0" anchor="ctr"/>
          <a:lstStyle/>
          <a:p>
            <a:pPr algn="l" indent="0" marL="0">
              <a:buNone/>
            </a:pPr>
            <a:r>
              <a:rPr lang="en-US" sz="1200" b="1" dirty="0">
                <a:solidFill>
                  <a:srgbClr val="7C3AED"/>
                </a:solidFill>
              </a:rPr>
              <a:t>= 1 seule base de code Dart</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627632"/>
          <a:ext cx="8412480" cy="2377440"/>
        </p:xfrm>
        <a:graphic>
          <a:graphicData uri="http://schemas.openxmlformats.org/drawingml/2006/table">
            <a:tbl>
              <a:tblPr/>
              <a:tblGrid>
                <a:gridCol w="1920240"/>
                <a:gridCol w="2194560"/>
                <a:gridCol w="2194560"/>
                <a:gridCol w="2194560"/>
              </a:tblGrid>
              <a:tr h="475488">
                <a:tc>
                  <a:txBody>
                    <a:bodyPr/>
                    <a:lstStyle/>
                    <a:p>
                      <a:pPr algn="l" indent="0" marL="0">
                        <a:buNone/>
                      </a:pPr>
                      <a:r>
                        <a:rPr lang="en-US" sz="1100" b="1" dirty="0">
                          <a:solidFill>
                            <a:srgbClr val="FFFFFF"/>
                          </a:solidFill>
                        </a:rPr>
                        <a:t>Critère</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algn="ctr" indent="0" marL="0">
                        <a:buNone/>
                      </a:pPr>
                      <a:r>
                        <a:rPr lang="en-US" sz="1100" b="1" dirty="0">
                          <a:solidFill>
                            <a:srgbClr val="FFFFFF"/>
                          </a:solidFill>
                        </a:rPr>
                        <a:t>Flutter ✓</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algn="ctr" indent="0" marL="0">
                        <a:buNone/>
                      </a:pPr>
                      <a:r>
                        <a:rPr lang="en-US" sz="1100" b="1" dirty="0">
                          <a:solidFill>
                            <a:srgbClr val="FFFFFF"/>
                          </a:solidFill>
                        </a:rPr>
                        <a:t>React Native</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algn="ctr" indent="0" marL="0">
                        <a:buNone/>
                      </a:pPr>
                      <a:r>
                        <a:rPr lang="en-US" sz="1100" b="1" dirty="0">
                          <a:solidFill>
                            <a:srgbClr val="FFFFFF"/>
                          </a:solidFill>
                        </a:rPr>
                        <a:t>Natif</a:t>
                      </a:r>
                      <a:endParaRPr lang="en-US" sz="11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r>
              <a:tr h="475488">
                <a:tc>
                  <a:txBody>
                    <a:bodyPr/>
                    <a:lstStyle/>
                    <a:p>
                      <a:pPr algn="l" indent="0" marL="0">
                        <a:buNone/>
                      </a:pPr>
                      <a:r>
                        <a:rPr lang="en-US" sz="1000" dirty="0">
                          <a:solidFill>
                            <a:srgbClr val="0F172A"/>
                          </a:solidFill>
                        </a:rPr>
                        <a:t>3 plateformes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65F46"/>
                          </a:solidFill>
                        </a:rPr>
                        <a:t>✅ Android+iOS+Web</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92400E"/>
                          </a:solidFill>
                        </a:rPr>
                        <a:t>⚠️ Pas le web natif</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991B1B"/>
                          </a:solidFill>
                        </a:rPr>
                        <a:t>❌ 2 codebases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75488">
                <a:tc>
                  <a:txBody>
                    <a:bodyPr/>
                    <a:lstStyle/>
                    <a:p>
                      <a:pPr algn="l" indent="0" marL="0">
                        <a:buNone/>
                      </a:pPr>
                      <a:r>
                        <a:rPr lang="en-US" sz="1000" dirty="0">
                          <a:solidFill>
                            <a:srgbClr val="0F172A"/>
                          </a:solidFill>
                        </a:rPr>
                        <a:t>Performances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065F46"/>
                          </a:solidFill>
                        </a:rPr>
                        <a:t>✅ AOT → machine</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92400E"/>
                          </a:solidFill>
                        </a:rPr>
                        <a:t>⚠️ Bridge JS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065F46"/>
                          </a:solidFill>
                        </a:rPr>
                        <a:t>✅ Optimal</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475488">
                <a:tc>
                  <a:txBody>
                    <a:bodyPr/>
                    <a:lstStyle/>
                    <a:p>
                      <a:pPr algn="l" indent="0" marL="0">
                        <a:buNone/>
                      </a:pPr>
                      <a:r>
                        <a:rPr lang="en-US" sz="1000" dirty="0">
                          <a:solidFill>
                            <a:srgbClr val="0F172A"/>
                          </a:solidFill>
                        </a:rPr>
                        <a:t>Offline-first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65F46"/>
                          </a:solidFill>
                        </a:rPr>
                        <a:t>✅ Isar intégré</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92400E"/>
                          </a:solidFill>
                        </a:rPr>
                        <a:t>⚠️ WatermelonDB</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65F46"/>
                          </a:solidFill>
                        </a:rPr>
                        <a:t>✅ Room/CoreData</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75488">
                <a:tc>
                  <a:txBody>
                    <a:bodyPr/>
                    <a:lstStyle/>
                    <a:p>
                      <a:pPr algn="l" indent="0" marL="0">
                        <a:buNone/>
                      </a:pPr>
                      <a:r>
                        <a:rPr lang="en-US" sz="1000" dirty="0">
                          <a:solidFill>
                            <a:srgbClr val="0F172A"/>
                          </a:solidFill>
                        </a:rPr>
                        <a:t>Equipe de 4</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065F46"/>
                          </a:solidFill>
                        </a:rPr>
                        <a:t>✅ 1 équipe</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065F46"/>
                          </a:solidFill>
                        </a:rPr>
                        <a:t>✅ 1 équipe</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991B1B"/>
                          </a:solidFill>
                        </a:rPr>
                        <a:t>❌ 2 équipes</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bl>
          </a:graphicData>
        </a:graphic>
      </p:graphicFrame>
      <p:sp>
        <p:nvSpPr>
          <p:cNvPr id="12" name="Shape 9"/>
          <p:cNvSpPr/>
          <p:nvPr/>
        </p:nvSpPr>
        <p:spPr>
          <a:xfrm>
            <a:off x="457200" y="4187952"/>
            <a:ext cx="8412480" cy="731520"/>
          </a:xfrm>
          <a:prstGeom prst="rect">
            <a:avLst/>
          </a:prstGeom>
          <a:solidFill>
            <a:srgbClr val="EDE9FE"/>
          </a:solidFill>
          <a:ln w="19050">
            <a:solidFill>
              <a:srgbClr val="7C3AED"/>
            </a:solidFill>
            <a:prstDash val="solid"/>
          </a:ln>
          <a:effectLst>
            <a:outerShdw sx="100000" sy="100000" kx="0" ky="0" algn="bl" rotWithShape="0" blurRad="101600" dist="38100" dir="8100000">
              <a:srgbClr val="000000">
                <a:alpha val="10000"/>
              </a:srgbClr>
            </a:outerShdw>
          </a:effectLst>
        </p:spPr>
      </p:sp>
      <p:sp>
        <p:nvSpPr>
          <p:cNvPr id="13" name="Text 10"/>
          <p:cNvSpPr/>
          <p:nvPr/>
        </p:nvSpPr>
        <p:spPr>
          <a:xfrm>
            <a:off x="640080" y="4251960"/>
            <a:ext cx="8046720" cy="603504"/>
          </a:xfrm>
          <a:prstGeom prst="rect">
            <a:avLst/>
          </a:prstGeom>
          <a:noFill/>
          <a:ln/>
        </p:spPr>
        <p:txBody>
          <a:bodyPr wrap="square" lIns="0" tIns="0" rIns="0" bIns="0" rtlCol="0" anchor="ctr"/>
          <a:lstStyle/>
          <a:p>
            <a:pPr algn="l" indent="0" marL="0">
              <a:buNone/>
            </a:pPr>
            <a:r>
              <a:rPr lang="en-US" sz="1100" dirty="0">
                <a:solidFill>
                  <a:srgbClr val="0F172A"/>
                </a:solidFill>
              </a:rPr>
              <a:t>💡 La compilation AOT de Flutter traduit Dart directement en langage machine — contrairement à React Native qui passe par un bridge JavaScript. Résultat : 60 FPS garantis, même sur des mid-range.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412480" cy="502920"/>
          </a:xfrm>
          <a:prstGeom prst="rect">
            <a:avLst/>
          </a:prstGeom>
          <a:noFill/>
          <a:ln/>
        </p:spPr>
        <p:txBody>
          <a:bodyPr wrap="square" lIns="0" tIns="0" rIns="0" bIns="0" rtlCol="0" anchor="ctr"/>
          <a:lstStyle/>
          <a:p>
            <a:pPr algn="l" indent="0" marL="0">
              <a:buNone/>
            </a:pPr>
            <a:r>
              <a:rPr lang="en-US" sz="2600" b="1" dirty="0">
                <a:solidFill>
                  <a:srgbClr val="7C3AED"/>
                </a:solidFill>
              </a:rPr>
              <a:t>Architecture — Feature-First Clean Architecture</a:t>
            </a:r>
            <a:endParaRPr lang="en-US" sz="2600" dirty="0"/>
          </a:p>
        </p:txBody>
      </p:sp>
      <p:sp>
        <p:nvSpPr>
          <p:cNvPr id="3" name="Text 1"/>
          <p:cNvSpPr/>
          <p:nvPr/>
        </p:nvSpPr>
        <p:spPr>
          <a:xfrm>
            <a:off x="457200" y="749808"/>
            <a:ext cx="8229600" cy="274320"/>
          </a:xfrm>
          <a:prstGeom prst="rect">
            <a:avLst/>
          </a:prstGeom>
          <a:noFill/>
          <a:ln/>
        </p:spPr>
        <p:txBody>
          <a:bodyPr wrap="square" lIns="0" tIns="0" rIns="0" bIns="0" rtlCol="0" anchor="ctr"/>
          <a:lstStyle/>
          <a:p>
            <a:pPr algn="l" indent="0" marL="0">
              <a:buNone/>
            </a:pPr>
            <a:r>
              <a:rPr lang="en-US" sz="1200" dirty="0">
                <a:solidFill>
                  <a:srgbClr val="94A3B8"/>
                </a:solidFill>
              </a:rPr>
              <a:t>Chaque fonctionnalité contient ses 3 couches : présentation · données · métier</a:t>
            </a:r>
            <a:endParaRPr lang="en-US" sz="1200" dirty="0"/>
          </a:p>
        </p:txBody>
      </p:sp>
      <p:sp>
        <p:nvSpPr>
          <p:cNvPr id="4" name="Shape 2"/>
          <p:cNvSpPr/>
          <p:nvPr/>
        </p:nvSpPr>
        <p:spPr>
          <a:xfrm>
            <a:off x="457200" y="1143000"/>
            <a:ext cx="2651760" cy="2011680"/>
          </a:xfrm>
          <a:prstGeom prst="rect">
            <a:avLst/>
          </a:prstGeom>
          <a:solidFill>
            <a:srgbClr val="FFFFFF"/>
          </a:solidFill>
          <a:ln w="19050">
            <a:solidFill>
              <a:srgbClr val="EC4899"/>
            </a:solidFill>
            <a:prstDash val="solid"/>
          </a:ln>
          <a:effectLst>
            <a:outerShdw sx="100000" sy="100000" kx="0" ky="0" algn="bl" rotWithShape="0" blurRad="101600" dist="38100" dir="8100000">
              <a:srgbClr val="000000">
                <a:alpha val="10000"/>
              </a:srgbClr>
            </a:outerShdw>
          </a:effectLst>
        </p:spPr>
      </p:sp>
      <p:sp>
        <p:nvSpPr>
          <p:cNvPr id="5" name="Shape 3"/>
          <p:cNvSpPr/>
          <p:nvPr/>
        </p:nvSpPr>
        <p:spPr>
          <a:xfrm>
            <a:off x="457200" y="1143000"/>
            <a:ext cx="2651760" cy="438912"/>
          </a:xfrm>
          <a:prstGeom prst="rect">
            <a:avLst/>
          </a:prstGeom>
          <a:solidFill>
            <a:srgbClr val="EC4899"/>
          </a:solidFill>
          <a:ln w="12700">
            <a:solidFill>
              <a:srgbClr val="EC4899"/>
            </a:solidFill>
            <a:prstDash val="solid"/>
          </a:ln>
        </p:spPr>
      </p:sp>
      <p:sp>
        <p:nvSpPr>
          <p:cNvPr id="6" name="Text 4"/>
          <p:cNvSpPr/>
          <p:nvPr/>
        </p:nvSpPr>
        <p:spPr>
          <a:xfrm>
            <a:off x="502920" y="1188720"/>
            <a:ext cx="2560320" cy="365760"/>
          </a:xfrm>
          <a:prstGeom prst="rect">
            <a:avLst/>
          </a:prstGeom>
          <a:noFill/>
          <a:ln/>
        </p:spPr>
        <p:txBody>
          <a:bodyPr wrap="square" lIns="0" tIns="0" rIns="0" bIns="0" rtlCol="0" anchor="ctr"/>
          <a:lstStyle/>
          <a:p>
            <a:pPr algn="ctr" indent="0" marL="0">
              <a:buNone/>
            </a:pPr>
            <a:r>
              <a:rPr lang="en-US" sz="1200" b="1" dirty="0">
                <a:solidFill>
                  <a:srgbClr val="FFFFFF"/>
                </a:solidFill>
              </a:rPr>
              <a:t>PRÉSENTATION</a:t>
            </a:r>
            <a:endParaRPr lang="en-US" sz="1200" dirty="0"/>
          </a:p>
        </p:txBody>
      </p:sp>
      <p:sp>
        <p:nvSpPr>
          <p:cNvPr id="7" name="Text 5"/>
          <p:cNvSpPr/>
          <p:nvPr/>
        </p:nvSpPr>
        <p:spPr>
          <a:xfrm>
            <a:off x="502920" y="1691640"/>
            <a:ext cx="2560320" cy="640080"/>
          </a:xfrm>
          <a:prstGeom prst="rect">
            <a:avLst/>
          </a:prstGeom>
          <a:noFill/>
          <a:ln/>
        </p:spPr>
        <p:txBody>
          <a:bodyPr wrap="square" lIns="0" tIns="0" rIns="0" bIns="0" rtlCol="0" anchor="ctr"/>
          <a:lstStyle/>
          <a:p>
            <a:pPr algn="ctr" indent="0" marL="0">
              <a:buNone/>
            </a:pPr>
            <a:r>
              <a:rPr lang="en-US" sz="1100" dirty="0">
                <a:solidFill>
                  <a:srgbClr val="0F172A"/>
                </a:solidFill>
              </a:rPr>
              <a:t>Screens · Widgets</a:t>
            </a:r>
            <a:endParaRPr lang="en-US" sz="1100" dirty="0"/>
          </a:p>
          <a:p>
            <a:pPr algn="ctr" indent="0" marL="0">
              <a:buNone/>
            </a:pPr>
            <a:r>
              <a:rPr lang="en-US" sz="1100" dirty="0">
                <a:solidFill>
                  <a:srgbClr val="0F172A"/>
                </a:solidFill>
              </a:rPr>
              <a:t>Providers Riverpod</a:t>
            </a:r>
            <a:endParaRPr lang="en-US" sz="1100" dirty="0"/>
          </a:p>
        </p:txBody>
      </p:sp>
      <p:sp>
        <p:nvSpPr>
          <p:cNvPr id="8" name="Text 6"/>
          <p:cNvSpPr/>
          <p:nvPr/>
        </p:nvSpPr>
        <p:spPr>
          <a:xfrm>
            <a:off x="502920" y="2377440"/>
            <a:ext cx="2560320" cy="640080"/>
          </a:xfrm>
          <a:prstGeom prst="rect">
            <a:avLst/>
          </a:prstGeom>
          <a:noFill/>
          <a:ln/>
        </p:spPr>
        <p:txBody>
          <a:bodyPr wrap="square" lIns="0" tIns="0" rIns="0" bIns="0" rtlCol="0" anchor="ctr"/>
          <a:lstStyle/>
          <a:p>
            <a:pPr algn="ctr" indent="0" marL="0">
              <a:buNone/>
            </a:pPr>
            <a:r>
              <a:rPr lang="en-US" sz="1000" i="1" dirty="0">
                <a:solidFill>
                  <a:srgbClr val="94A3B8"/>
                </a:solidFill>
              </a:rPr>
              <a:t>Ce que l'utilisateur</a:t>
            </a:r>
            <a:endParaRPr lang="en-US" sz="1000" dirty="0"/>
          </a:p>
          <a:p>
            <a:pPr algn="ctr" indent="0" marL="0">
              <a:buNone/>
            </a:pPr>
            <a:r>
              <a:rPr lang="en-US" sz="1000" i="1" dirty="0">
                <a:solidFill>
                  <a:srgbClr val="94A3B8"/>
                </a:solidFill>
              </a:rPr>
              <a:t>voit et touche</a:t>
            </a:r>
            <a:endParaRPr lang="en-US" sz="1000" dirty="0"/>
          </a:p>
        </p:txBody>
      </p:sp>
      <p:sp>
        <p:nvSpPr>
          <p:cNvPr id="9" name="Text 7"/>
          <p:cNvSpPr/>
          <p:nvPr/>
        </p:nvSpPr>
        <p:spPr>
          <a:xfrm>
            <a:off x="3108960" y="1828800"/>
            <a:ext cx="274320" cy="457200"/>
          </a:xfrm>
          <a:prstGeom prst="rect">
            <a:avLst/>
          </a:prstGeom>
          <a:noFill/>
          <a:ln/>
        </p:spPr>
        <p:txBody>
          <a:bodyPr wrap="square" lIns="0" tIns="0" rIns="0" bIns="0" rtlCol="0" anchor="ctr"/>
          <a:lstStyle/>
          <a:p>
            <a:pPr algn="ctr" indent="0" marL="0">
              <a:buNone/>
            </a:pPr>
            <a:r>
              <a:rPr lang="en-US" sz="2000" b="1" dirty="0">
                <a:solidFill>
                  <a:srgbClr val="7C3AED"/>
                </a:solidFill>
              </a:rPr>
              <a:t>→</a:t>
            </a:r>
            <a:endParaRPr lang="en-US" sz="2000" dirty="0"/>
          </a:p>
        </p:txBody>
      </p:sp>
      <p:sp>
        <p:nvSpPr>
          <p:cNvPr id="10" name="Shape 8"/>
          <p:cNvSpPr/>
          <p:nvPr/>
        </p:nvSpPr>
        <p:spPr>
          <a:xfrm>
            <a:off x="3291840" y="1143000"/>
            <a:ext cx="2651760" cy="2011680"/>
          </a:xfrm>
          <a:prstGeom prst="rect">
            <a:avLst/>
          </a:prstGeom>
          <a:solidFill>
            <a:srgbClr val="FFFFFF"/>
          </a:solidFill>
          <a:ln w="19050">
            <a:solidFill>
              <a:srgbClr val="3B82F6"/>
            </a:solidFill>
            <a:prstDash val="solid"/>
          </a:ln>
          <a:effectLst>
            <a:outerShdw sx="100000" sy="100000" kx="0" ky="0" algn="bl" rotWithShape="0" blurRad="101600" dist="38100" dir="8100000">
              <a:srgbClr val="000000">
                <a:alpha val="10000"/>
              </a:srgbClr>
            </a:outerShdw>
          </a:effectLst>
        </p:spPr>
      </p:sp>
      <p:sp>
        <p:nvSpPr>
          <p:cNvPr id="11" name="Shape 9"/>
          <p:cNvSpPr/>
          <p:nvPr/>
        </p:nvSpPr>
        <p:spPr>
          <a:xfrm>
            <a:off x="3291840" y="1143000"/>
            <a:ext cx="2651760" cy="438912"/>
          </a:xfrm>
          <a:prstGeom prst="rect">
            <a:avLst/>
          </a:prstGeom>
          <a:solidFill>
            <a:srgbClr val="3B82F6"/>
          </a:solidFill>
          <a:ln w="12700">
            <a:solidFill>
              <a:srgbClr val="3B82F6"/>
            </a:solidFill>
            <a:prstDash val="solid"/>
          </a:ln>
        </p:spPr>
      </p:sp>
      <p:sp>
        <p:nvSpPr>
          <p:cNvPr id="12" name="Text 10"/>
          <p:cNvSpPr/>
          <p:nvPr/>
        </p:nvSpPr>
        <p:spPr>
          <a:xfrm>
            <a:off x="3337560" y="1188720"/>
            <a:ext cx="2560320" cy="365760"/>
          </a:xfrm>
          <a:prstGeom prst="rect">
            <a:avLst/>
          </a:prstGeom>
          <a:noFill/>
          <a:ln/>
        </p:spPr>
        <p:txBody>
          <a:bodyPr wrap="square" lIns="0" tIns="0" rIns="0" bIns="0" rtlCol="0" anchor="ctr"/>
          <a:lstStyle/>
          <a:p>
            <a:pPr algn="ctr" indent="0" marL="0">
              <a:buNone/>
            </a:pPr>
            <a:r>
              <a:rPr lang="en-US" sz="1200" b="1" dirty="0">
                <a:solidFill>
                  <a:srgbClr val="FFFFFF"/>
                </a:solidFill>
              </a:rPr>
              <a:t>DONNÉES</a:t>
            </a:r>
            <a:endParaRPr lang="en-US" sz="1200" dirty="0"/>
          </a:p>
        </p:txBody>
      </p:sp>
      <p:sp>
        <p:nvSpPr>
          <p:cNvPr id="13" name="Text 11"/>
          <p:cNvSpPr/>
          <p:nvPr/>
        </p:nvSpPr>
        <p:spPr>
          <a:xfrm>
            <a:off x="3337560" y="1691640"/>
            <a:ext cx="2560320" cy="640080"/>
          </a:xfrm>
          <a:prstGeom prst="rect">
            <a:avLst/>
          </a:prstGeom>
          <a:noFill/>
          <a:ln/>
        </p:spPr>
        <p:txBody>
          <a:bodyPr wrap="square" lIns="0" tIns="0" rIns="0" bIns="0" rtlCol="0" anchor="ctr"/>
          <a:lstStyle/>
          <a:p>
            <a:pPr algn="ctr" indent="0" marL="0">
              <a:buNone/>
            </a:pPr>
            <a:r>
              <a:rPr lang="en-US" sz="1100" dirty="0">
                <a:solidFill>
                  <a:srgbClr val="0F172A"/>
                </a:solidFill>
              </a:rPr>
              <a:t>Repositories</a:t>
            </a:r>
            <a:endParaRPr lang="en-US" sz="1100" dirty="0"/>
          </a:p>
          <a:p>
            <a:pPr algn="ctr" indent="0" marL="0">
              <a:buNone/>
            </a:pPr>
            <a:r>
              <a:rPr lang="en-US" sz="1100" dirty="0">
                <a:solidFill>
                  <a:srgbClr val="0F172A"/>
                </a:solidFill>
              </a:rPr>
              <a:t>Sources de données</a:t>
            </a:r>
            <a:endParaRPr lang="en-US" sz="1100" dirty="0"/>
          </a:p>
        </p:txBody>
      </p:sp>
      <p:sp>
        <p:nvSpPr>
          <p:cNvPr id="14" name="Text 12"/>
          <p:cNvSpPr/>
          <p:nvPr/>
        </p:nvSpPr>
        <p:spPr>
          <a:xfrm>
            <a:off x="3337560" y="2377440"/>
            <a:ext cx="2560320" cy="640080"/>
          </a:xfrm>
          <a:prstGeom prst="rect">
            <a:avLst/>
          </a:prstGeom>
          <a:noFill/>
          <a:ln/>
        </p:spPr>
        <p:txBody>
          <a:bodyPr wrap="square" lIns="0" tIns="0" rIns="0" bIns="0" rtlCol="0" anchor="ctr"/>
          <a:lstStyle/>
          <a:p>
            <a:pPr algn="ctr" indent="0" marL="0">
              <a:buNone/>
            </a:pPr>
            <a:r>
              <a:rPr lang="en-US" sz="1000" i="1" dirty="0">
                <a:solidFill>
                  <a:srgbClr val="94A3B8"/>
                </a:solidFill>
              </a:rPr>
              <a:t>Accès à Isar,</a:t>
            </a:r>
            <a:endParaRPr lang="en-US" sz="1000" dirty="0"/>
          </a:p>
          <a:p>
            <a:pPr algn="ctr" indent="0" marL="0">
              <a:buNone/>
            </a:pPr>
            <a:r>
              <a:rPr lang="en-US" sz="1000" i="1" dirty="0">
                <a:solidFill>
                  <a:srgbClr val="94A3B8"/>
                </a:solidFill>
              </a:rPr>
              <a:t>API distantes</a:t>
            </a:r>
            <a:endParaRPr lang="en-US" sz="1000" dirty="0"/>
          </a:p>
        </p:txBody>
      </p:sp>
      <p:sp>
        <p:nvSpPr>
          <p:cNvPr id="15" name="Text 13"/>
          <p:cNvSpPr/>
          <p:nvPr/>
        </p:nvSpPr>
        <p:spPr>
          <a:xfrm>
            <a:off x="5943600" y="1828800"/>
            <a:ext cx="274320" cy="457200"/>
          </a:xfrm>
          <a:prstGeom prst="rect">
            <a:avLst/>
          </a:prstGeom>
          <a:noFill/>
          <a:ln/>
        </p:spPr>
        <p:txBody>
          <a:bodyPr wrap="square" lIns="0" tIns="0" rIns="0" bIns="0" rtlCol="0" anchor="ctr"/>
          <a:lstStyle/>
          <a:p>
            <a:pPr algn="ctr" indent="0" marL="0">
              <a:buNone/>
            </a:pPr>
            <a:r>
              <a:rPr lang="en-US" sz="2000" b="1" dirty="0">
                <a:solidFill>
                  <a:srgbClr val="7C3AED"/>
                </a:solidFill>
              </a:rPr>
              <a:t>→</a:t>
            </a:r>
            <a:endParaRPr lang="en-US" sz="2000" dirty="0"/>
          </a:p>
        </p:txBody>
      </p:sp>
      <p:sp>
        <p:nvSpPr>
          <p:cNvPr id="16" name="Shape 14"/>
          <p:cNvSpPr/>
          <p:nvPr/>
        </p:nvSpPr>
        <p:spPr>
          <a:xfrm>
            <a:off x="6126480" y="1143000"/>
            <a:ext cx="2651760" cy="2011680"/>
          </a:xfrm>
          <a:prstGeom prst="rect">
            <a:avLst/>
          </a:prstGeom>
          <a:solidFill>
            <a:srgbClr val="FFFFFF"/>
          </a:solidFill>
          <a:ln w="19050">
            <a:solidFill>
              <a:srgbClr val="10B981"/>
            </a:solidFill>
            <a:prstDash val="solid"/>
          </a:ln>
          <a:effectLst>
            <a:outerShdw sx="100000" sy="100000" kx="0" ky="0" algn="bl" rotWithShape="0" blurRad="101600" dist="38100" dir="8100000">
              <a:srgbClr val="000000">
                <a:alpha val="10000"/>
              </a:srgbClr>
            </a:outerShdw>
          </a:effectLst>
        </p:spPr>
      </p:sp>
      <p:sp>
        <p:nvSpPr>
          <p:cNvPr id="17" name="Shape 15"/>
          <p:cNvSpPr/>
          <p:nvPr/>
        </p:nvSpPr>
        <p:spPr>
          <a:xfrm>
            <a:off x="6126480" y="1143000"/>
            <a:ext cx="2651760" cy="438912"/>
          </a:xfrm>
          <a:prstGeom prst="rect">
            <a:avLst/>
          </a:prstGeom>
          <a:solidFill>
            <a:srgbClr val="10B981"/>
          </a:solidFill>
          <a:ln w="12700">
            <a:solidFill>
              <a:srgbClr val="10B981"/>
            </a:solidFill>
            <a:prstDash val="solid"/>
          </a:ln>
        </p:spPr>
      </p:sp>
      <p:sp>
        <p:nvSpPr>
          <p:cNvPr id="18" name="Text 16"/>
          <p:cNvSpPr/>
          <p:nvPr/>
        </p:nvSpPr>
        <p:spPr>
          <a:xfrm>
            <a:off x="6172200" y="1188720"/>
            <a:ext cx="2560320" cy="365760"/>
          </a:xfrm>
          <a:prstGeom prst="rect">
            <a:avLst/>
          </a:prstGeom>
          <a:noFill/>
          <a:ln/>
        </p:spPr>
        <p:txBody>
          <a:bodyPr wrap="square" lIns="0" tIns="0" rIns="0" bIns="0" rtlCol="0" anchor="ctr"/>
          <a:lstStyle/>
          <a:p>
            <a:pPr algn="ctr" indent="0" marL="0">
              <a:buNone/>
            </a:pPr>
            <a:r>
              <a:rPr lang="en-US" sz="1200" b="1" dirty="0">
                <a:solidFill>
                  <a:srgbClr val="FFFFFF"/>
                </a:solidFill>
              </a:rPr>
              <a:t>MÉTIER</a:t>
            </a:r>
            <a:endParaRPr lang="en-US" sz="1200" dirty="0"/>
          </a:p>
        </p:txBody>
      </p:sp>
      <p:sp>
        <p:nvSpPr>
          <p:cNvPr id="19" name="Text 17"/>
          <p:cNvSpPr/>
          <p:nvPr/>
        </p:nvSpPr>
        <p:spPr>
          <a:xfrm>
            <a:off x="6172200" y="1691640"/>
            <a:ext cx="2560320" cy="640080"/>
          </a:xfrm>
          <a:prstGeom prst="rect">
            <a:avLst/>
          </a:prstGeom>
          <a:noFill/>
          <a:ln/>
        </p:spPr>
        <p:txBody>
          <a:bodyPr wrap="square" lIns="0" tIns="0" rIns="0" bIns="0" rtlCol="0" anchor="ctr"/>
          <a:lstStyle/>
          <a:p>
            <a:pPr algn="ctr" indent="0" marL="0">
              <a:buNone/>
            </a:pPr>
            <a:r>
              <a:rPr lang="en-US" sz="1100" dirty="0">
                <a:solidFill>
                  <a:srgbClr val="0F172A"/>
                </a:solidFill>
              </a:rPr>
              <a:t>Modèles Freezed</a:t>
            </a:r>
            <a:endParaRPr lang="en-US" sz="1100" dirty="0"/>
          </a:p>
          <a:p>
            <a:pPr algn="ctr" indent="0" marL="0">
              <a:buNone/>
            </a:pPr>
            <a:r>
              <a:rPr lang="en-US" sz="1100" dirty="0">
                <a:solidFill>
                  <a:srgbClr val="0F172A"/>
                </a:solidFill>
              </a:rPr>
              <a:t>Règles business</a:t>
            </a:r>
            <a:endParaRPr lang="en-US" sz="1100" dirty="0"/>
          </a:p>
        </p:txBody>
      </p:sp>
      <p:sp>
        <p:nvSpPr>
          <p:cNvPr id="20" name="Text 18"/>
          <p:cNvSpPr/>
          <p:nvPr/>
        </p:nvSpPr>
        <p:spPr>
          <a:xfrm>
            <a:off x="6172200" y="2377440"/>
            <a:ext cx="2560320" cy="640080"/>
          </a:xfrm>
          <a:prstGeom prst="rect">
            <a:avLst/>
          </a:prstGeom>
          <a:noFill/>
          <a:ln/>
        </p:spPr>
        <p:txBody>
          <a:bodyPr wrap="square" lIns="0" tIns="0" rIns="0" bIns="0" rtlCol="0" anchor="ctr"/>
          <a:lstStyle/>
          <a:p>
            <a:pPr algn="ctr" indent="0" marL="0">
              <a:buNone/>
            </a:pPr>
            <a:r>
              <a:rPr lang="en-US" sz="1000" i="1" dirty="0">
                <a:solidFill>
                  <a:srgbClr val="94A3B8"/>
                </a:solidFill>
              </a:rPr>
              <a:t>Logique pure,</a:t>
            </a:r>
            <a:endParaRPr lang="en-US" sz="1000" dirty="0"/>
          </a:p>
          <a:p>
            <a:pPr algn="ctr" indent="0" marL="0">
              <a:buNone/>
            </a:pPr>
            <a:r>
              <a:rPr lang="en-US" sz="1000" i="1" dirty="0">
                <a:solidFill>
                  <a:srgbClr val="94A3B8"/>
                </a:solidFill>
              </a:rPr>
              <a:t>sans technologie</a:t>
            </a:r>
            <a:endParaRPr lang="en-US" sz="1000" dirty="0"/>
          </a:p>
        </p:txBody>
      </p:sp>
      <p:sp>
        <p:nvSpPr>
          <p:cNvPr id="21" name="Text 19"/>
          <p:cNvSpPr/>
          <p:nvPr/>
        </p:nvSpPr>
        <p:spPr>
          <a:xfrm>
            <a:off x="457200" y="3291840"/>
            <a:ext cx="2743200" cy="274320"/>
          </a:xfrm>
          <a:prstGeom prst="rect">
            <a:avLst/>
          </a:prstGeom>
          <a:noFill/>
          <a:ln/>
        </p:spPr>
        <p:txBody>
          <a:bodyPr wrap="square" lIns="0" tIns="0" rIns="0" bIns="0" rtlCol="0" anchor="ctr"/>
          <a:lstStyle/>
          <a:p>
            <a:pPr algn="l" indent="0" marL="0">
              <a:buNone/>
            </a:pPr>
            <a:r>
              <a:rPr lang="en-US" sz="1200" b="1" dirty="0">
                <a:solidFill>
                  <a:srgbClr val="0F172A"/>
                </a:solidFill>
              </a:rPr>
              <a:t>9 modules Feature-First :</a:t>
            </a:r>
            <a:endParaRPr lang="en-US" sz="1200" dirty="0"/>
          </a:p>
        </p:txBody>
      </p:sp>
      <p:sp>
        <p:nvSpPr>
          <p:cNvPr id="22" name="Shape 20"/>
          <p:cNvSpPr/>
          <p:nvPr/>
        </p:nvSpPr>
        <p:spPr>
          <a:xfrm>
            <a:off x="457200" y="3611880"/>
            <a:ext cx="2560320" cy="310896"/>
          </a:xfrm>
          <a:prstGeom prst="roundRect">
            <a:avLst>
              <a:gd name="adj" fmla="val 147059"/>
            </a:avLst>
          </a:prstGeom>
          <a:solidFill>
            <a:srgbClr val="7C3AED"/>
          </a:solidFill>
          <a:ln w="12700">
            <a:solidFill>
              <a:srgbClr val="7C3AED"/>
            </a:solidFill>
            <a:prstDash val="solid"/>
          </a:ln>
          <a:effectLst>
            <a:outerShdw sx="100000" sy="100000" kx="0" ky="0" algn="bl" rotWithShape="0" blurRad="101600" dist="38100" dir="8100000">
              <a:srgbClr val="000000">
                <a:alpha val="10000"/>
              </a:srgbClr>
            </a:outerShdw>
          </a:effectLst>
        </p:spPr>
      </p:sp>
      <p:sp>
        <p:nvSpPr>
          <p:cNvPr id="23" name="Text 21"/>
          <p:cNvSpPr/>
          <p:nvPr/>
        </p:nvSpPr>
        <p:spPr>
          <a:xfrm>
            <a:off x="457200" y="3611880"/>
            <a:ext cx="2560320" cy="310896"/>
          </a:xfrm>
          <a:prstGeom prst="rect">
            <a:avLst/>
          </a:prstGeom>
          <a:noFill/>
          <a:ln/>
        </p:spPr>
        <p:txBody>
          <a:bodyPr wrap="square" lIns="0" tIns="0" rIns="0" bIns="0" rtlCol="0" anchor="ctr"/>
          <a:lstStyle/>
          <a:p>
            <a:pPr algn="ctr" indent="0" marL="0">
              <a:buNone/>
            </a:pPr>
            <a:r>
              <a:rPr lang="en-US" sz="1000" b="1" dirty="0">
                <a:solidFill>
                  <a:srgbClr val="FFFFFF"/>
                </a:solidFill>
              </a:rPr>
              <a:t>events/</a:t>
            </a:r>
            <a:endParaRPr lang="en-US" sz="1000" dirty="0"/>
          </a:p>
        </p:txBody>
      </p:sp>
      <p:sp>
        <p:nvSpPr>
          <p:cNvPr id="24" name="Shape 22"/>
          <p:cNvSpPr/>
          <p:nvPr/>
        </p:nvSpPr>
        <p:spPr>
          <a:xfrm>
            <a:off x="3291840" y="3611880"/>
            <a:ext cx="2560320" cy="310896"/>
          </a:xfrm>
          <a:prstGeom prst="roundRect">
            <a:avLst>
              <a:gd name="adj" fmla="val 147059"/>
            </a:avLst>
          </a:prstGeom>
          <a:solidFill>
            <a:srgbClr val="7C3AED"/>
          </a:solidFill>
          <a:ln w="12700">
            <a:solidFill>
              <a:srgbClr val="7C3AED"/>
            </a:solidFill>
            <a:prstDash val="solid"/>
          </a:ln>
          <a:effectLst>
            <a:outerShdw sx="100000" sy="100000" kx="0" ky="0" algn="bl" rotWithShape="0" blurRad="101600" dist="38100" dir="8100000">
              <a:srgbClr val="000000">
                <a:alpha val="10000"/>
              </a:srgbClr>
            </a:outerShdw>
          </a:effectLst>
        </p:spPr>
      </p:sp>
      <p:sp>
        <p:nvSpPr>
          <p:cNvPr id="25" name="Text 23"/>
          <p:cNvSpPr/>
          <p:nvPr/>
        </p:nvSpPr>
        <p:spPr>
          <a:xfrm>
            <a:off x="3291840" y="3611880"/>
            <a:ext cx="2560320" cy="310896"/>
          </a:xfrm>
          <a:prstGeom prst="rect">
            <a:avLst/>
          </a:prstGeom>
          <a:noFill/>
          <a:ln/>
        </p:spPr>
        <p:txBody>
          <a:bodyPr wrap="square" lIns="0" tIns="0" rIns="0" bIns="0" rtlCol="0" anchor="ctr"/>
          <a:lstStyle/>
          <a:p>
            <a:pPr algn="ctr" indent="0" marL="0">
              <a:buNone/>
            </a:pPr>
            <a:r>
              <a:rPr lang="en-US" sz="1000" b="1" dirty="0">
                <a:solidFill>
                  <a:srgbClr val="FFFFFF"/>
                </a:solidFill>
              </a:rPr>
              <a:t>tickets/</a:t>
            </a:r>
            <a:endParaRPr lang="en-US" sz="1000" dirty="0"/>
          </a:p>
        </p:txBody>
      </p:sp>
      <p:sp>
        <p:nvSpPr>
          <p:cNvPr id="26" name="Shape 24"/>
          <p:cNvSpPr/>
          <p:nvPr/>
        </p:nvSpPr>
        <p:spPr>
          <a:xfrm>
            <a:off x="6126480" y="3611880"/>
            <a:ext cx="2560320" cy="310896"/>
          </a:xfrm>
          <a:prstGeom prst="roundRect">
            <a:avLst>
              <a:gd name="adj" fmla="val 147059"/>
            </a:avLst>
          </a:prstGeom>
          <a:solidFill>
            <a:srgbClr val="7C3AED"/>
          </a:solidFill>
          <a:ln w="12700">
            <a:solidFill>
              <a:srgbClr val="7C3AED"/>
            </a:solidFill>
            <a:prstDash val="solid"/>
          </a:ln>
          <a:effectLst>
            <a:outerShdw sx="100000" sy="100000" kx="0" ky="0" algn="bl" rotWithShape="0" blurRad="101600" dist="38100" dir="8100000">
              <a:srgbClr val="000000">
                <a:alpha val="10000"/>
              </a:srgbClr>
            </a:outerShdw>
          </a:effectLst>
        </p:spPr>
      </p:sp>
      <p:sp>
        <p:nvSpPr>
          <p:cNvPr id="27" name="Text 25"/>
          <p:cNvSpPr/>
          <p:nvPr/>
        </p:nvSpPr>
        <p:spPr>
          <a:xfrm>
            <a:off x="6126480" y="3611880"/>
            <a:ext cx="2560320" cy="310896"/>
          </a:xfrm>
          <a:prstGeom prst="rect">
            <a:avLst/>
          </a:prstGeom>
          <a:noFill/>
          <a:ln/>
        </p:spPr>
        <p:txBody>
          <a:bodyPr wrap="square" lIns="0" tIns="0" rIns="0" bIns="0" rtlCol="0" anchor="ctr"/>
          <a:lstStyle/>
          <a:p>
            <a:pPr algn="ctr" indent="0" marL="0">
              <a:buNone/>
            </a:pPr>
            <a:r>
              <a:rPr lang="en-US" sz="1000" b="1" dirty="0">
                <a:solidFill>
                  <a:srgbClr val="FFFFFF"/>
                </a:solidFill>
              </a:rPr>
              <a:t>cart/</a:t>
            </a:r>
            <a:endParaRPr lang="en-US" sz="1000" dirty="0"/>
          </a:p>
        </p:txBody>
      </p:sp>
      <p:sp>
        <p:nvSpPr>
          <p:cNvPr id="28" name="Shape 26"/>
          <p:cNvSpPr/>
          <p:nvPr/>
        </p:nvSpPr>
        <p:spPr>
          <a:xfrm>
            <a:off x="457200" y="3977640"/>
            <a:ext cx="2560320" cy="310896"/>
          </a:xfrm>
          <a:prstGeom prst="roundRect">
            <a:avLst>
              <a:gd name="adj" fmla="val 147059"/>
            </a:avLst>
          </a:prstGeom>
          <a:solidFill>
            <a:srgbClr val="7C3AED"/>
          </a:solidFill>
          <a:ln w="12700">
            <a:solidFill>
              <a:srgbClr val="7C3AED"/>
            </a:solidFill>
            <a:prstDash val="solid"/>
          </a:ln>
          <a:effectLst>
            <a:outerShdw sx="100000" sy="100000" kx="0" ky="0" algn="bl" rotWithShape="0" blurRad="101600" dist="38100" dir="8100000">
              <a:srgbClr val="000000">
                <a:alpha val="10000"/>
              </a:srgbClr>
            </a:outerShdw>
          </a:effectLst>
        </p:spPr>
      </p:sp>
      <p:sp>
        <p:nvSpPr>
          <p:cNvPr id="29" name="Text 27"/>
          <p:cNvSpPr/>
          <p:nvPr/>
        </p:nvSpPr>
        <p:spPr>
          <a:xfrm>
            <a:off x="457200" y="3977640"/>
            <a:ext cx="2560320" cy="310896"/>
          </a:xfrm>
          <a:prstGeom prst="rect">
            <a:avLst/>
          </a:prstGeom>
          <a:noFill/>
          <a:ln/>
        </p:spPr>
        <p:txBody>
          <a:bodyPr wrap="square" lIns="0" tIns="0" rIns="0" bIns="0" rtlCol="0" anchor="ctr"/>
          <a:lstStyle/>
          <a:p>
            <a:pPr algn="ctr" indent="0" marL="0">
              <a:buNone/>
            </a:pPr>
            <a:r>
              <a:rPr lang="en-US" sz="1000" b="1" dirty="0">
                <a:solidFill>
                  <a:srgbClr val="FFFFFF"/>
                </a:solidFill>
              </a:rPr>
              <a:t>profile/</a:t>
            </a:r>
            <a:endParaRPr lang="en-US" sz="1000" dirty="0"/>
          </a:p>
        </p:txBody>
      </p:sp>
      <p:sp>
        <p:nvSpPr>
          <p:cNvPr id="30" name="Shape 28"/>
          <p:cNvSpPr/>
          <p:nvPr/>
        </p:nvSpPr>
        <p:spPr>
          <a:xfrm>
            <a:off x="3291840" y="3977640"/>
            <a:ext cx="2560320" cy="310896"/>
          </a:xfrm>
          <a:prstGeom prst="roundRect">
            <a:avLst>
              <a:gd name="adj" fmla="val 147059"/>
            </a:avLst>
          </a:prstGeom>
          <a:solidFill>
            <a:srgbClr val="3B82F6"/>
          </a:solidFill>
          <a:ln w="12700">
            <a:solidFill>
              <a:srgbClr val="3B82F6"/>
            </a:solidFill>
            <a:prstDash val="solid"/>
          </a:ln>
          <a:effectLst>
            <a:outerShdw sx="100000" sy="100000" kx="0" ky="0" algn="bl" rotWithShape="0" blurRad="101600" dist="38100" dir="8100000">
              <a:srgbClr val="000000">
                <a:alpha val="10000"/>
              </a:srgbClr>
            </a:outerShdw>
          </a:effectLst>
        </p:spPr>
      </p:sp>
      <p:sp>
        <p:nvSpPr>
          <p:cNvPr id="31" name="Text 29"/>
          <p:cNvSpPr/>
          <p:nvPr/>
        </p:nvSpPr>
        <p:spPr>
          <a:xfrm>
            <a:off x="3291840" y="3977640"/>
            <a:ext cx="2560320" cy="310896"/>
          </a:xfrm>
          <a:prstGeom prst="rect">
            <a:avLst/>
          </a:prstGeom>
          <a:noFill/>
          <a:ln/>
        </p:spPr>
        <p:txBody>
          <a:bodyPr wrap="square" lIns="0" tIns="0" rIns="0" bIns="0" rtlCol="0" anchor="ctr"/>
          <a:lstStyle/>
          <a:p>
            <a:pPr algn="ctr" indent="0" marL="0">
              <a:buNone/>
            </a:pPr>
            <a:r>
              <a:rPr lang="en-US" sz="1000" b="1" dirty="0">
                <a:solidFill>
                  <a:srgbClr val="FFFFFF"/>
                </a:solidFill>
              </a:rPr>
              <a:t>transport/</a:t>
            </a:r>
            <a:endParaRPr lang="en-US" sz="1000" dirty="0"/>
          </a:p>
        </p:txBody>
      </p:sp>
      <p:sp>
        <p:nvSpPr>
          <p:cNvPr id="32" name="Shape 30"/>
          <p:cNvSpPr/>
          <p:nvPr/>
        </p:nvSpPr>
        <p:spPr>
          <a:xfrm>
            <a:off x="6126480" y="3977640"/>
            <a:ext cx="2560320" cy="310896"/>
          </a:xfrm>
          <a:prstGeom prst="roundRect">
            <a:avLst>
              <a:gd name="adj" fmla="val 147059"/>
            </a:avLst>
          </a:prstGeom>
          <a:solidFill>
            <a:srgbClr val="3B82F6"/>
          </a:solidFill>
          <a:ln w="12700">
            <a:solidFill>
              <a:srgbClr val="3B82F6"/>
            </a:solidFill>
            <a:prstDash val="solid"/>
          </a:ln>
          <a:effectLst>
            <a:outerShdw sx="100000" sy="100000" kx="0" ky="0" algn="bl" rotWithShape="0" blurRad="101600" dist="38100" dir="8100000">
              <a:srgbClr val="000000">
                <a:alpha val="10000"/>
              </a:srgbClr>
            </a:outerShdw>
          </a:effectLst>
        </p:spPr>
      </p:sp>
      <p:sp>
        <p:nvSpPr>
          <p:cNvPr id="33" name="Text 31"/>
          <p:cNvSpPr/>
          <p:nvPr/>
        </p:nvSpPr>
        <p:spPr>
          <a:xfrm>
            <a:off x="6126480" y="3977640"/>
            <a:ext cx="2560320" cy="310896"/>
          </a:xfrm>
          <a:prstGeom prst="rect">
            <a:avLst/>
          </a:prstGeom>
          <a:noFill/>
          <a:ln/>
        </p:spPr>
        <p:txBody>
          <a:bodyPr wrap="square" lIns="0" tIns="0" rIns="0" bIns="0" rtlCol="0" anchor="ctr"/>
          <a:lstStyle/>
          <a:p>
            <a:pPr algn="ctr" indent="0" marL="0">
              <a:buNone/>
            </a:pPr>
            <a:r>
              <a:rPr lang="en-US" sz="1000" b="1" dirty="0">
                <a:solidFill>
                  <a:srgbClr val="FFFFFF"/>
                </a:solidFill>
              </a:rPr>
              <a:t>hebergement/</a:t>
            </a:r>
            <a:endParaRPr lang="en-US" sz="1000" dirty="0"/>
          </a:p>
        </p:txBody>
      </p:sp>
      <p:sp>
        <p:nvSpPr>
          <p:cNvPr id="34" name="Shape 32"/>
          <p:cNvSpPr/>
          <p:nvPr/>
        </p:nvSpPr>
        <p:spPr>
          <a:xfrm>
            <a:off x="457200" y="4343400"/>
            <a:ext cx="2560320" cy="310896"/>
          </a:xfrm>
          <a:prstGeom prst="roundRect">
            <a:avLst>
              <a:gd name="adj" fmla="val 147059"/>
            </a:avLst>
          </a:prstGeom>
          <a:solidFill>
            <a:srgbClr val="3B82F6"/>
          </a:solidFill>
          <a:ln w="12700">
            <a:solidFill>
              <a:srgbClr val="3B82F6"/>
            </a:solidFill>
            <a:prstDash val="solid"/>
          </a:ln>
          <a:effectLst>
            <a:outerShdw sx="100000" sy="100000" kx="0" ky="0" algn="bl" rotWithShape="0" blurRad="101600" dist="38100" dir="8100000">
              <a:srgbClr val="000000">
                <a:alpha val="10000"/>
              </a:srgbClr>
            </a:outerShdw>
          </a:effectLst>
        </p:spPr>
      </p:sp>
      <p:sp>
        <p:nvSpPr>
          <p:cNvPr id="35" name="Text 33"/>
          <p:cNvSpPr/>
          <p:nvPr/>
        </p:nvSpPr>
        <p:spPr>
          <a:xfrm>
            <a:off x="457200" y="4343400"/>
            <a:ext cx="2560320" cy="310896"/>
          </a:xfrm>
          <a:prstGeom prst="rect">
            <a:avLst/>
          </a:prstGeom>
          <a:noFill/>
          <a:ln/>
        </p:spPr>
        <p:txBody>
          <a:bodyPr wrap="square" lIns="0" tIns="0" rIns="0" bIns="0" rtlCol="0" anchor="ctr"/>
          <a:lstStyle/>
          <a:p>
            <a:pPr algn="ctr" indent="0" marL="0">
              <a:buNone/>
            </a:pPr>
            <a:r>
              <a:rPr lang="en-US" sz="1000" b="1" dirty="0">
                <a:solidFill>
                  <a:srgbClr val="FFFFFF"/>
                </a:solidFill>
              </a:rPr>
              <a:t>social/</a:t>
            </a:r>
            <a:endParaRPr lang="en-US" sz="1000" dirty="0"/>
          </a:p>
        </p:txBody>
      </p:sp>
      <p:sp>
        <p:nvSpPr>
          <p:cNvPr id="36" name="Shape 34"/>
          <p:cNvSpPr/>
          <p:nvPr/>
        </p:nvSpPr>
        <p:spPr>
          <a:xfrm>
            <a:off x="3291840" y="4343400"/>
            <a:ext cx="2560320" cy="310896"/>
          </a:xfrm>
          <a:prstGeom prst="roundRect">
            <a:avLst>
              <a:gd name="adj" fmla="val 147059"/>
            </a:avLst>
          </a:prstGeom>
          <a:solidFill>
            <a:srgbClr val="3B82F6"/>
          </a:solidFill>
          <a:ln w="12700">
            <a:solidFill>
              <a:srgbClr val="3B82F6"/>
            </a:solidFill>
            <a:prstDash val="solid"/>
          </a:ln>
          <a:effectLst>
            <a:outerShdw sx="100000" sy="100000" kx="0" ky="0" algn="bl" rotWithShape="0" blurRad="101600" dist="38100" dir="8100000">
              <a:srgbClr val="000000">
                <a:alpha val="10000"/>
              </a:srgbClr>
            </a:outerShdw>
          </a:effectLst>
        </p:spPr>
      </p:sp>
      <p:sp>
        <p:nvSpPr>
          <p:cNvPr id="37" name="Text 35"/>
          <p:cNvSpPr/>
          <p:nvPr/>
        </p:nvSpPr>
        <p:spPr>
          <a:xfrm>
            <a:off x="3291840" y="4343400"/>
            <a:ext cx="2560320" cy="310896"/>
          </a:xfrm>
          <a:prstGeom prst="rect">
            <a:avLst/>
          </a:prstGeom>
          <a:noFill/>
          <a:ln/>
        </p:spPr>
        <p:txBody>
          <a:bodyPr wrap="square" lIns="0" tIns="0" rIns="0" bIns="0" rtlCol="0" anchor="ctr"/>
          <a:lstStyle/>
          <a:p>
            <a:pPr algn="ctr" indent="0" marL="0">
              <a:buNone/>
            </a:pPr>
            <a:r>
              <a:rPr lang="en-US" sz="1000" b="1" dirty="0">
                <a:solidFill>
                  <a:srgbClr val="FFFFFF"/>
                </a:solidFill>
              </a:rPr>
              <a:t>b2b/</a:t>
            </a:r>
            <a:endParaRPr lang="en-US" sz="1000" dirty="0"/>
          </a:p>
        </p:txBody>
      </p:sp>
      <p:sp>
        <p:nvSpPr>
          <p:cNvPr id="38" name="Shape 36"/>
          <p:cNvSpPr/>
          <p:nvPr/>
        </p:nvSpPr>
        <p:spPr>
          <a:xfrm>
            <a:off x="6126480" y="4343400"/>
            <a:ext cx="2560320" cy="310896"/>
          </a:xfrm>
          <a:prstGeom prst="roundRect">
            <a:avLst>
              <a:gd name="adj" fmla="val 147059"/>
            </a:avLst>
          </a:prstGeom>
          <a:solidFill>
            <a:srgbClr val="3B82F6"/>
          </a:solidFill>
          <a:ln w="12700">
            <a:solidFill>
              <a:srgbClr val="3B82F6"/>
            </a:solidFill>
            <a:prstDash val="solid"/>
          </a:ln>
          <a:effectLst>
            <a:outerShdw sx="100000" sy="100000" kx="0" ky="0" algn="bl" rotWithShape="0" blurRad="101600" dist="38100" dir="8100000">
              <a:srgbClr val="000000">
                <a:alpha val="10000"/>
              </a:srgbClr>
            </a:outerShdw>
          </a:effectLst>
        </p:spPr>
      </p:sp>
      <p:sp>
        <p:nvSpPr>
          <p:cNvPr id="39" name="Text 37"/>
          <p:cNvSpPr/>
          <p:nvPr/>
        </p:nvSpPr>
        <p:spPr>
          <a:xfrm>
            <a:off x="6126480" y="4343400"/>
            <a:ext cx="2560320" cy="310896"/>
          </a:xfrm>
          <a:prstGeom prst="rect">
            <a:avLst/>
          </a:prstGeom>
          <a:noFill/>
          <a:ln/>
        </p:spPr>
        <p:txBody>
          <a:bodyPr wrap="square" lIns="0" tIns="0" rIns="0" bIns="0" rtlCol="0" anchor="ctr"/>
          <a:lstStyle/>
          <a:p>
            <a:pPr algn="ctr" indent="0" marL="0">
              <a:buNone/>
            </a:pPr>
            <a:r>
              <a:rPr lang="en-US" sz="1000" b="1" dirty="0">
                <a:solidFill>
                  <a:srgbClr val="FFFFFF"/>
                </a:solidFill>
              </a:rPr>
              <a:t>core/</a:t>
            </a:r>
            <a:endParaRPr lang="en-US" sz="1000" dirty="0"/>
          </a:p>
        </p:txBody>
      </p:sp>
      <p:sp>
        <p:nvSpPr>
          <p:cNvPr id="40" name="Shape 38"/>
          <p:cNvSpPr/>
          <p:nvPr/>
        </p:nvSpPr>
        <p:spPr>
          <a:xfrm>
            <a:off x="457200" y="4663440"/>
            <a:ext cx="8412480" cy="292608"/>
          </a:xfrm>
          <a:prstGeom prst="rect">
            <a:avLst/>
          </a:prstGeom>
          <a:solidFill>
            <a:srgbClr val="EDE9FE"/>
          </a:solidFill>
          <a:ln w="19050">
            <a:solidFill>
              <a:srgbClr val="7C3AED"/>
            </a:solidFill>
            <a:prstDash val="solid"/>
          </a:ln>
          <a:effectLst>
            <a:outerShdw sx="100000" sy="100000" kx="0" ky="0" algn="bl" rotWithShape="0" blurRad="101600" dist="38100" dir="8100000">
              <a:srgbClr val="000000">
                <a:alpha val="10000"/>
              </a:srgbClr>
            </a:outerShdw>
          </a:effectLst>
        </p:spPr>
      </p:sp>
      <p:sp>
        <p:nvSpPr>
          <p:cNvPr id="41" name="Text 39"/>
          <p:cNvSpPr/>
          <p:nvPr/>
        </p:nvSpPr>
        <p:spPr>
          <a:xfrm>
            <a:off x="594360" y="4681728"/>
            <a:ext cx="8046720" cy="256032"/>
          </a:xfrm>
          <a:prstGeom prst="rect">
            <a:avLst/>
          </a:prstGeom>
          <a:noFill/>
          <a:ln/>
        </p:spPr>
        <p:txBody>
          <a:bodyPr wrap="square" lIns="0" tIns="0" rIns="0" bIns="0" rtlCol="0" anchor="ctr"/>
          <a:lstStyle/>
          <a:p>
            <a:pPr algn="l" indent="0" marL="0">
              <a:buNone/>
            </a:pPr>
            <a:r>
              <a:rPr lang="en-US" sz="950" dirty="0">
                <a:solidFill>
                  <a:srgbClr val="7C3AED"/>
                </a:solidFill>
              </a:rPr>
              <a:t>Règle de dépendance : Métier ne connaît ni l'interface ni la base de données. Changer de BDD = modifier uniquement la couche Données.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lIns="0" tIns="0" rIns="0" bIns="0" rtlCol="0" anchor="ctr"/>
          <a:lstStyle/>
          <a:p>
            <a:pPr algn="l" indent="0" marL="0">
              <a:buNone/>
            </a:pPr>
            <a:r>
              <a:rPr lang="en-US" sz="2600" b="1" dirty="0">
                <a:solidFill>
                  <a:srgbClr val="7C3AED"/>
                </a:solidFill>
              </a:rPr>
              <a:t>ERD — Base de données Isar</a:t>
            </a:r>
            <a:endParaRPr lang="en-US" sz="2600" dirty="0"/>
          </a:p>
        </p:txBody>
      </p:sp>
      <p:sp>
        <p:nvSpPr>
          <p:cNvPr id="3" name="Text 1"/>
          <p:cNvSpPr/>
          <p:nvPr/>
        </p:nvSpPr>
        <p:spPr>
          <a:xfrm>
            <a:off x="457200" y="658368"/>
            <a:ext cx="8229600" cy="256032"/>
          </a:xfrm>
          <a:prstGeom prst="rect">
            <a:avLst/>
          </a:prstGeom>
          <a:noFill/>
          <a:ln/>
        </p:spPr>
        <p:txBody>
          <a:bodyPr wrap="square" lIns="0" tIns="0" rIns="0" bIns="0" rtlCol="0" anchor="ctr"/>
          <a:lstStyle/>
          <a:p>
            <a:pPr algn="l" indent="0" marL="0">
              <a:buNone/>
            </a:pPr>
            <a:r>
              <a:rPr lang="en-US" sz="1200" dirty="0">
                <a:solidFill>
                  <a:srgbClr val="94A3B8"/>
                </a:solidFill>
              </a:rPr>
              <a:t>5 collections NoSQL · Offline-first · Synchronisation Firebase</a:t>
            </a:r>
            <a:endParaRPr lang="en-US" sz="1200" dirty="0"/>
          </a:p>
        </p:txBody>
      </p:sp>
      <p:pic>
        <p:nvPicPr>
          <p:cNvPr id="4" name="Image 0" descr="/home/claude/pulsar_erd.png">    </p:cNvPr>
          <p:cNvPicPr>
            <a:picLocks noChangeAspect="1"/>
          </p:cNvPicPr>
          <p:nvPr/>
        </p:nvPicPr>
        <p:blipFill>
          <a:blip r:embed="rId1"/>
          <a:srcRect l="0" r="0" t="0" b="0"/>
          <a:stretch/>
        </p:blipFill>
        <p:spPr>
          <a:xfrm>
            <a:off x="457200" y="960120"/>
            <a:ext cx="5303520" cy="3931920"/>
          </a:xfrm>
          <a:prstGeom prst="rect">
            <a:avLst/>
          </a:prstGeom>
        </p:spPr>
      </p:pic>
      <p:sp>
        <p:nvSpPr>
          <p:cNvPr id="5" name="Shape 2"/>
          <p:cNvSpPr/>
          <p:nvPr/>
        </p:nvSpPr>
        <p:spPr>
          <a:xfrm>
            <a:off x="5989320" y="960120"/>
            <a:ext cx="2926080" cy="713232"/>
          </a:xfrm>
          <a:prstGeom prst="rect">
            <a:avLst/>
          </a:prstGeom>
          <a:solidFill>
            <a:srgbClr val="FFFFFF"/>
          </a:solidFill>
          <a:ln w="19050">
            <a:solidFill>
              <a:srgbClr val="7C3AED"/>
            </a:solidFill>
            <a:prstDash val="solid"/>
          </a:ln>
          <a:effectLst>
            <a:outerShdw sx="100000" sy="100000" kx="0" ky="0" algn="bl" rotWithShape="0" blurRad="101600" dist="38100" dir="8100000">
              <a:srgbClr val="000000">
                <a:alpha val="10000"/>
              </a:srgbClr>
            </a:outerShdw>
          </a:effectLst>
        </p:spPr>
      </p:sp>
      <p:sp>
        <p:nvSpPr>
          <p:cNvPr id="6" name="Shape 3"/>
          <p:cNvSpPr/>
          <p:nvPr/>
        </p:nvSpPr>
        <p:spPr>
          <a:xfrm>
            <a:off x="5989320" y="960120"/>
            <a:ext cx="109728" cy="713232"/>
          </a:xfrm>
          <a:prstGeom prst="rect">
            <a:avLst/>
          </a:prstGeom>
          <a:solidFill>
            <a:srgbClr val="7C3AED"/>
          </a:solidFill>
          <a:ln w="12700">
            <a:solidFill>
              <a:srgbClr val="7C3AED"/>
            </a:solidFill>
            <a:prstDash val="solid"/>
          </a:ln>
        </p:spPr>
      </p:sp>
      <p:sp>
        <p:nvSpPr>
          <p:cNvPr id="7" name="Text 4"/>
          <p:cNvSpPr/>
          <p:nvPr/>
        </p:nvSpPr>
        <p:spPr>
          <a:xfrm>
            <a:off x="6172200" y="1005840"/>
            <a:ext cx="2743200" cy="256032"/>
          </a:xfrm>
          <a:prstGeom prst="rect">
            <a:avLst/>
          </a:prstGeom>
          <a:noFill/>
          <a:ln/>
        </p:spPr>
        <p:txBody>
          <a:bodyPr wrap="square" lIns="0" tIns="0" rIns="0" bIns="0" rtlCol="0" anchor="ctr"/>
          <a:lstStyle/>
          <a:p>
            <a:pPr algn="l" indent="0" marL="0">
              <a:buNone/>
            </a:pPr>
            <a:r>
              <a:rPr lang="en-US" sz="1100" b="1" dirty="0">
                <a:solidFill>
                  <a:srgbClr val="7C3AED"/>
                </a:solidFill>
              </a:rPr>
              <a:t>IsarUserProfile</a:t>
            </a:r>
            <a:endParaRPr lang="en-US" sz="1100" dirty="0"/>
          </a:p>
        </p:txBody>
      </p:sp>
      <p:sp>
        <p:nvSpPr>
          <p:cNvPr id="8" name="Text 5"/>
          <p:cNvSpPr/>
          <p:nvPr/>
        </p:nvSpPr>
        <p:spPr>
          <a:xfrm>
            <a:off x="6172200" y="1261872"/>
            <a:ext cx="2743200" cy="320040"/>
          </a:xfrm>
          <a:prstGeom prst="rect">
            <a:avLst/>
          </a:prstGeom>
          <a:noFill/>
          <a:ln/>
        </p:spPr>
        <p:txBody>
          <a:bodyPr wrap="square" lIns="0" tIns="0" rIns="0" bIns="0" rtlCol="0" anchor="ctr"/>
          <a:lstStyle/>
          <a:p>
            <a:pPr algn="l" indent="0" marL="0">
              <a:buNone/>
            </a:pPr>
            <a:r>
              <a:rPr lang="en-US" sz="1000" dirty="0">
                <a:solidFill>
                  <a:srgbClr val="334155"/>
                </a:solidFill>
              </a:rPr>
              <a:t>Profil unique + éco-score + préférences</a:t>
            </a:r>
            <a:endParaRPr lang="en-US" sz="1000" dirty="0"/>
          </a:p>
        </p:txBody>
      </p:sp>
      <p:sp>
        <p:nvSpPr>
          <p:cNvPr id="9" name="Shape 6"/>
          <p:cNvSpPr/>
          <p:nvPr/>
        </p:nvSpPr>
        <p:spPr>
          <a:xfrm>
            <a:off x="5989320" y="1746504"/>
            <a:ext cx="2926080" cy="713232"/>
          </a:xfrm>
          <a:prstGeom prst="rect">
            <a:avLst/>
          </a:prstGeom>
          <a:solidFill>
            <a:srgbClr val="FFFFFF"/>
          </a:solidFill>
          <a:ln w="19050">
            <a:solidFill>
              <a:srgbClr val="EC4899"/>
            </a:solidFill>
            <a:prstDash val="solid"/>
          </a:ln>
          <a:effectLst>
            <a:outerShdw sx="100000" sy="100000" kx="0" ky="0" algn="bl" rotWithShape="0" blurRad="101600" dist="38100" dir="8100000">
              <a:srgbClr val="000000">
                <a:alpha val="10000"/>
              </a:srgbClr>
            </a:outerShdw>
          </a:effectLst>
        </p:spPr>
      </p:sp>
      <p:sp>
        <p:nvSpPr>
          <p:cNvPr id="10" name="Shape 7"/>
          <p:cNvSpPr/>
          <p:nvPr/>
        </p:nvSpPr>
        <p:spPr>
          <a:xfrm>
            <a:off x="5989320" y="1746504"/>
            <a:ext cx="109728" cy="713232"/>
          </a:xfrm>
          <a:prstGeom prst="rect">
            <a:avLst/>
          </a:prstGeom>
          <a:solidFill>
            <a:srgbClr val="EC4899"/>
          </a:solidFill>
          <a:ln w="12700">
            <a:solidFill>
              <a:srgbClr val="EC4899"/>
            </a:solidFill>
            <a:prstDash val="solid"/>
          </a:ln>
        </p:spPr>
      </p:sp>
      <p:sp>
        <p:nvSpPr>
          <p:cNvPr id="11" name="Text 8"/>
          <p:cNvSpPr/>
          <p:nvPr/>
        </p:nvSpPr>
        <p:spPr>
          <a:xfrm>
            <a:off x="6172200" y="1792224"/>
            <a:ext cx="2743200" cy="256032"/>
          </a:xfrm>
          <a:prstGeom prst="rect">
            <a:avLst/>
          </a:prstGeom>
          <a:noFill/>
          <a:ln/>
        </p:spPr>
        <p:txBody>
          <a:bodyPr wrap="square" lIns="0" tIns="0" rIns="0" bIns="0" rtlCol="0" anchor="ctr"/>
          <a:lstStyle/>
          <a:p>
            <a:pPr algn="l" indent="0" marL="0">
              <a:buNone/>
            </a:pPr>
            <a:r>
              <a:rPr lang="en-US" sz="1100" b="1" dirty="0">
                <a:solidFill>
                  <a:srgbClr val="EC4899"/>
                </a:solidFill>
              </a:rPr>
              <a:t>IsarEvent</a:t>
            </a:r>
            <a:endParaRPr lang="en-US" sz="1100" dirty="0"/>
          </a:p>
        </p:txBody>
      </p:sp>
      <p:sp>
        <p:nvSpPr>
          <p:cNvPr id="12" name="Text 9"/>
          <p:cNvSpPr/>
          <p:nvPr/>
        </p:nvSpPr>
        <p:spPr>
          <a:xfrm>
            <a:off x="6172200" y="2048256"/>
            <a:ext cx="2743200" cy="320040"/>
          </a:xfrm>
          <a:prstGeom prst="rect">
            <a:avLst/>
          </a:prstGeom>
          <a:noFill/>
          <a:ln/>
        </p:spPr>
        <p:txBody>
          <a:bodyPr wrap="square" lIns="0" tIns="0" rIns="0" bIns="0" rtlCol="0" anchor="ctr"/>
          <a:lstStyle/>
          <a:p>
            <a:pPr algn="l" indent="0" marL="0">
              <a:buNone/>
            </a:pPr>
            <a:r>
              <a:rPr lang="en-US" sz="1000" dirty="0">
                <a:solidFill>
                  <a:srgbClr val="334155"/>
                </a:solidFill>
              </a:rPr>
              <a:t>Catalogue dénormalisé, offline-ready</a:t>
            </a:r>
            <a:endParaRPr lang="en-US" sz="1000" dirty="0"/>
          </a:p>
        </p:txBody>
      </p:sp>
      <p:sp>
        <p:nvSpPr>
          <p:cNvPr id="13" name="Shape 10"/>
          <p:cNvSpPr/>
          <p:nvPr/>
        </p:nvSpPr>
        <p:spPr>
          <a:xfrm>
            <a:off x="5989320" y="2532888"/>
            <a:ext cx="2926080" cy="713232"/>
          </a:xfrm>
          <a:prstGeom prst="rect">
            <a:avLst/>
          </a:prstGeom>
          <a:solidFill>
            <a:srgbClr val="FFFFFF"/>
          </a:solidFill>
          <a:ln w="19050">
            <a:solidFill>
              <a:srgbClr val="10B981"/>
            </a:solidFill>
            <a:prstDash val="solid"/>
          </a:ln>
          <a:effectLst>
            <a:outerShdw sx="100000" sy="100000" kx="0" ky="0" algn="bl" rotWithShape="0" blurRad="101600" dist="38100" dir="8100000">
              <a:srgbClr val="000000">
                <a:alpha val="10000"/>
              </a:srgbClr>
            </a:outerShdw>
          </a:effectLst>
        </p:spPr>
      </p:sp>
      <p:sp>
        <p:nvSpPr>
          <p:cNvPr id="14" name="Shape 11"/>
          <p:cNvSpPr/>
          <p:nvPr/>
        </p:nvSpPr>
        <p:spPr>
          <a:xfrm>
            <a:off x="5989320" y="2532888"/>
            <a:ext cx="109728" cy="713232"/>
          </a:xfrm>
          <a:prstGeom prst="rect">
            <a:avLst/>
          </a:prstGeom>
          <a:solidFill>
            <a:srgbClr val="10B981"/>
          </a:solidFill>
          <a:ln w="12700">
            <a:solidFill>
              <a:srgbClr val="10B981"/>
            </a:solidFill>
            <a:prstDash val="solid"/>
          </a:ln>
        </p:spPr>
      </p:sp>
      <p:sp>
        <p:nvSpPr>
          <p:cNvPr id="15" name="Text 12"/>
          <p:cNvSpPr/>
          <p:nvPr/>
        </p:nvSpPr>
        <p:spPr>
          <a:xfrm>
            <a:off x="6172200" y="2578608"/>
            <a:ext cx="2743200" cy="256032"/>
          </a:xfrm>
          <a:prstGeom prst="rect">
            <a:avLst/>
          </a:prstGeom>
          <a:noFill/>
          <a:ln/>
        </p:spPr>
        <p:txBody>
          <a:bodyPr wrap="square" lIns="0" tIns="0" rIns="0" bIns="0" rtlCol="0" anchor="ctr"/>
          <a:lstStyle/>
          <a:p>
            <a:pPr algn="l" indent="0" marL="0">
              <a:buNone/>
            </a:pPr>
            <a:r>
              <a:rPr lang="en-US" sz="1100" b="1" dirty="0">
                <a:solidFill>
                  <a:srgbClr val="10B981"/>
                </a:solidFill>
              </a:rPr>
              <a:t>IsarTicket</a:t>
            </a:r>
            <a:endParaRPr lang="en-US" sz="1100" dirty="0"/>
          </a:p>
        </p:txBody>
      </p:sp>
      <p:sp>
        <p:nvSpPr>
          <p:cNvPr id="16" name="Text 13"/>
          <p:cNvSpPr/>
          <p:nvPr/>
        </p:nvSpPr>
        <p:spPr>
          <a:xfrm>
            <a:off x="6172200" y="2834640"/>
            <a:ext cx="2743200" cy="320040"/>
          </a:xfrm>
          <a:prstGeom prst="rect">
            <a:avLst/>
          </a:prstGeom>
          <a:noFill/>
          <a:ln/>
        </p:spPr>
        <p:txBody>
          <a:bodyPr wrap="square" lIns="0" tIns="0" rIns="0" bIns="0" rtlCol="0" anchor="ctr"/>
          <a:lstStyle/>
          <a:p>
            <a:pPr algn="l" indent="0" marL="0">
              <a:buNone/>
            </a:pPr>
            <a:r>
              <a:rPr lang="en-US" sz="1000" dirty="0">
                <a:solidFill>
                  <a:srgbClr val="334155"/>
                </a:solidFill>
              </a:rPr>
              <a:t>Billet + QR code HMAC-SHA256</a:t>
            </a:r>
            <a:endParaRPr lang="en-US" sz="1000" dirty="0"/>
          </a:p>
        </p:txBody>
      </p:sp>
      <p:sp>
        <p:nvSpPr>
          <p:cNvPr id="17" name="Shape 14"/>
          <p:cNvSpPr/>
          <p:nvPr/>
        </p:nvSpPr>
        <p:spPr>
          <a:xfrm>
            <a:off x="5989320" y="3319272"/>
            <a:ext cx="2926080" cy="713232"/>
          </a:xfrm>
          <a:prstGeom prst="rect">
            <a:avLst/>
          </a:prstGeom>
          <a:solidFill>
            <a:srgbClr val="FFFFFF"/>
          </a:solidFill>
          <a:ln w="19050">
            <a:solidFill>
              <a:srgbClr val="3B82F6"/>
            </a:solidFill>
            <a:prstDash val="solid"/>
          </a:ln>
          <a:effectLst>
            <a:outerShdw sx="100000" sy="100000" kx="0" ky="0" algn="bl" rotWithShape="0" blurRad="101600" dist="38100" dir="8100000">
              <a:srgbClr val="000000">
                <a:alpha val="10000"/>
              </a:srgbClr>
            </a:outerShdw>
          </a:effectLst>
        </p:spPr>
      </p:sp>
      <p:sp>
        <p:nvSpPr>
          <p:cNvPr id="18" name="Shape 15"/>
          <p:cNvSpPr/>
          <p:nvPr/>
        </p:nvSpPr>
        <p:spPr>
          <a:xfrm>
            <a:off x="5989320" y="3319272"/>
            <a:ext cx="109728" cy="713232"/>
          </a:xfrm>
          <a:prstGeom prst="rect">
            <a:avLst/>
          </a:prstGeom>
          <a:solidFill>
            <a:srgbClr val="3B82F6"/>
          </a:solidFill>
          <a:ln w="12700">
            <a:solidFill>
              <a:srgbClr val="3B82F6"/>
            </a:solidFill>
            <a:prstDash val="solid"/>
          </a:ln>
        </p:spPr>
      </p:sp>
      <p:sp>
        <p:nvSpPr>
          <p:cNvPr id="19" name="Text 16"/>
          <p:cNvSpPr/>
          <p:nvPr/>
        </p:nvSpPr>
        <p:spPr>
          <a:xfrm>
            <a:off x="6172200" y="3364992"/>
            <a:ext cx="2743200" cy="256032"/>
          </a:xfrm>
          <a:prstGeom prst="rect">
            <a:avLst/>
          </a:prstGeom>
          <a:noFill/>
          <a:ln/>
        </p:spPr>
        <p:txBody>
          <a:bodyPr wrap="square" lIns="0" tIns="0" rIns="0" bIns="0" rtlCol="0" anchor="ctr"/>
          <a:lstStyle/>
          <a:p>
            <a:pPr algn="l" indent="0" marL="0">
              <a:buNone/>
            </a:pPr>
            <a:r>
              <a:rPr lang="en-US" sz="1100" b="1" dirty="0">
                <a:solidFill>
                  <a:srgbClr val="3B82F6"/>
                </a:solidFill>
              </a:rPr>
              <a:t>IsarCartItem</a:t>
            </a:r>
            <a:endParaRPr lang="en-US" sz="1100" dirty="0"/>
          </a:p>
        </p:txBody>
      </p:sp>
      <p:sp>
        <p:nvSpPr>
          <p:cNvPr id="20" name="Text 17"/>
          <p:cNvSpPr/>
          <p:nvPr/>
        </p:nvSpPr>
        <p:spPr>
          <a:xfrm>
            <a:off x="6172200" y="3621024"/>
            <a:ext cx="2743200" cy="320040"/>
          </a:xfrm>
          <a:prstGeom prst="rect">
            <a:avLst/>
          </a:prstGeom>
          <a:noFill/>
          <a:ln/>
        </p:spPr>
        <p:txBody>
          <a:bodyPr wrap="square" lIns="0" tIns="0" rIns="0" bIns="0" rtlCol="0" anchor="ctr"/>
          <a:lstStyle/>
          <a:p>
            <a:pPr algn="l" indent="0" marL="0">
              <a:buNone/>
            </a:pPr>
            <a:r>
              <a:rPr lang="en-US" sz="1000" dirty="0">
                <a:solidFill>
                  <a:srgbClr val="334155"/>
                </a:solidFill>
              </a:rPr>
              <a:t>Panier → devient Ticket au checkout</a:t>
            </a:r>
            <a:endParaRPr lang="en-US" sz="1000" dirty="0"/>
          </a:p>
        </p:txBody>
      </p:sp>
      <p:sp>
        <p:nvSpPr>
          <p:cNvPr id="21" name="Shape 18"/>
          <p:cNvSpPr/>
          <p:nvPr/>
        </p:nvSpPr>
        <p:spPr>
          <a:xfrm>
            <a:off x="5989320" y="4105656"/>
            <a:ext cx="2926080" cy="713232"/>
          </a:xfrm>
          <a:prstGeom prst="rect">
            <a:avLst/>
          </a:prstGeom>
          <a:solidFill>
            <a:srgbClr val="FFFFFF"/>
          </a:solidFill>
          <a:ln w="19050">
            <a:solidFill>
              <a:srgbClr val="F59E0B"/>
            </a:solidFill>
            <a:prstDash val="solid"/>
          </a:ln>
          <a:effectLst>
            <a:outerShdw sx="100000" sy="100000" kx="0" ky="0" algn="bl" rotWithShape="0" blurRad="101600" dist="38100" dir="8100000">
              <a:srgbClr val="000000">
                <a:alpha val="10000"/>
              </a:srgbClr>
            </a:outerShdw>
          </a:effectLst>
        </p:spPr>
      </p:sp>
      <p:sp>
        <p:nvSpPr>
          <p:cNvPr id="22" name="Shape 19"/>
          <p:cNvSpPr/>
          <p:nvPr/>
        </p:nvSpPr>
        <p:spPr>
          <a:xfrm>
            <a:off x="5989320" y="4105656"/>
            <a:ext cx="109728" cy="713232"/>
          </a:xfrm>
          <a:prstGeom prst="rect">
            <a:avLst/>
          </a:prstGeom>
          <a:solidFill>
            <a:srgbClr val="F59E0B"/>
          </a:solidFill>
          <a:ln w="12700">
            <a:solidFill>
              <a:srgbClr val="F59E0B"/>
            </a:solidFill>
            <a:prstDash val="solid"/>
          </a:ln>
        </p:spPr>
      </p:sp>
      <p:sp>
        <p:nvSpPr>
          <p:cNvPr id="23" name="Text 20"/>
          <p:cNvSpPr/>
          <p:nvPr/>
        </p:nvSpPr>
        <p:spPr>
          <a:xfrm>
            <a:off x="6172200" y="4151376"/>
            <a:ext cx="2743200" cy="256032"/>
          </a:xfrm>
          <a:prstGeom prst="rect">
            <a:avLst/>
          </a:prstGeom>
          <a:noFill/>
          <a:ln/>
        </p:spPr>
        <p:txBody>
          <a:bodyPr wrap="square" lIns="0" tIns="0" rIns="0" bIns="0" rtlCol="0" anchor="ctr"/>
          <a:lstStyle/>
          <a:p>
            <a:pPr algn="l" indent="0" marL="0">
              <a:buNone/>
            </a:pPr>
            <a:r>
              <a:rPr lang="en-US" sz="1100" b="1" dirty="0">
                <a:solidFill>
                  <a:srgbClr val="F59E0B"/>
                </a:solidFill>
              </a:rPr>
              <a:t>IsarFavorite</a:t>
            </a:r>
            <a:endParaRPr lang="en-US" sz="1100" dirty="0"/>
          </a:p>
        </p:txBody>
      </p:sp>
      <p:sp>
        <p:nvSpPr>
          <p:cNvPr id="24" name="Text 21"/>
          <p:cNvSpPr/>
          <p:nvPr/>
        </p:nvSpPr>
        <p:spPr>
          <a:xfrm>
            <a:off x="6172200" y="4407408"/>
            <a:ext cx="2743200" cy="320040"/>
          </a:xfrm>
          <a:prstGeom prst="rect">
            <a:avLst/>
          </a:prstGeom>
          <a:noFill/>
          <a:ln/>
        </p:spPr>
        <p:txBody>
          <a:bodyPr wrap="square" lIns="0" tIns="0" rIns="0" bIns="0" rtlCol="0" anchor="ctr"/>
          <a:lstStyle/>
          <a:p>
            <a:pPr algn="l" indent="0" marL="0">
              <a:buNone/>
            </a:pPr>
            <a:r>
              <a:rPr lang="en-US" sz="1000" dirty="0">
                <a:solidFill>
                  <a:srgbClr val="334155"/>
                </a:solidFill>
              </a:rPr>
              <a:t>Index unique par eventId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lIns="0" tIns="0" rIns="0" bIns="0" rtlCol="0" anchor="ctr"/>
          <a:lstStyle/>
          <a:p>
            <a:pPr algn="l" indent="0" marL="0">
              <a:buNone/>
            </a:pPr>
            <a:r>
              <a:rPr lang="en-US" sz="2600" b="1" dirty="0">
                <a:solidFill>
                  <a:srgbClr val="7C3AED"/>
                </a:solidFill>
              </a:rPr>
              <a:t>MCD &amp; MLD — Modélisation Merise</a:t>
            </a:r>
            <a:endParaRPr lang="en-US" sz="2600" dirty="0"/>
          </a:p>
        </p:txBody>
      </p:sp>
      <p:sp>
        <p:nvSpPr>
          <p:cNvPr id="3" name="Text 1"/>
          <p:cNvSpPr/>
          <p:nvPr/>
        </p:nvSpPr>
        <p:spPr>
          <a:xfrm>
            <a:off x="457200" y="658368"/>
            <a:ext cx="8229600" cy="256032"/>
          </a:xfrm>
          <a:prstGeom prst="rect">
            <a:avLst/>
          </a:prstGeom>
          <a:noFill/>
          <a:ln/>
        </p:spPr>
        <p:txBody>
          <a:bodyPr wrap="square" lIns="0" tIns="0" rIns="0" bIns="0" rtlCol="0" anchor="ctr"/>
          <a:lstStyle/>
          <a:p>
            <a:pPr algn="l" indent="0" marL="0">
              <a:buNone/>
            </a:pPr>
            <a:r>
              <a:rPr lang="en-US" sz="1200" dirty="0">
                <a:solidFill>
                  <a:srgbClr val="94A3B8"/>
                </a:solidFill>
              </a:rPr>
              <a:t>Du conceptuel (entités métier) au logique (tables SQL) — 3 règles de passage Merise</a:t>
            </a:r>
            <a:endParaRPr lang="en-US" sz="1200" dirty="0"/>
          </a:p>
        </p:txBody>
      </p:sp>
      <p:pic>
        <p:nvPicPr>
          <p:cNvPr id="4" name="Image 0" descr="/home/claude/diagrams/pulsar_mcd.png">    </p:cNvPr>
          <p:cNvPicPr>
            <a:picLocks noChangeAspect="1"/>
          </p:cNvPicPr>
          <p:nvPr/>
        </p:nvPicPr>
        <p:blipFill>
          <a:blip r:embed="rId1"/>
          <a:srcRect l="0" r="0" t="0" b="0"/>
          <a:stretch/>
        </p:blipFill>
        <p:spPr>
          <a:xfrm>
            <a:off x="274320" y="960120"/>
            <a:ext cx="4206240" cy="3200400"/>
          </a:xfrm>
          <a:prstGeom prst="rect">
            <a:avLst/>
          </a:prstGeom>
        </p:spPr>
      </p:pic>
      <p:sp>
        <p:nvSpPr>
          <p:cNvPr id="5" name="Text 2"/>
          <p:cNvSpPr/>
          <p:nvPr/>
        </p:nvSpPr>
        <p:spPr>
          <a:xfrm>
            <a:off x="274320" y="4206240"/>
            <a:ext cx="4206240" cy="274320"/>
          </a:xfrm>
          <a:prstGeom prst="rect">
            <a:avLst/>
          </a:prstGeom>
          <a:noFill/>
          <a:ln/>
        </p:spPr>
        <p:txBody>
          <a:bodyPr wrap="square" lIns="0" tIns="0" rIns="0" bIns="0" rtlCol="0" anchor="ctr"/>
          <a:lstStyle/>
          <a:p>
            <a:pPr algn="ctr" indent="0" marL="0">
              <a:buNone/>
            </a:pPr>
            <a:r>
              <a:rPr lang="en-US" sz="1000" b="1" dirty="0">
                <a:solidFill>
                  <a:srgbClr val="7C3AED"/>
                </a:solidFill>
              </a:rPr>
              <a:t>MCD — Conceptuel</a:t>
            </a:r>
            <a:endParaRPr lang="en-US" sz="1000" dirty="0"/>
          </a:p>
        </p:txBody>
      </p:sp>
      <p:sp>
        <p:nvSpPr>
          <p:cNvPr id="6" name="Text 3"/>
          <p:cNvSpPr/>
          <p:nvPr/>
        </p:nvSpPr>
        <p:spPr>
          <a:xfrm>
            <a:off x="4572000" y="2286000"/>
            <a:ext cx="548640" cy="548640"/>
          </a:xfrm>
          <a:prstGeom prst="rect">
            <a:avLst/>
          </a:prstGeom>
          <a:noFill/>
          <a:ln/>
        </p:spPr>
        <p:txBody>
          <a:bodyPr wrap="square" lIns="0" tIns="0" rIns="0" bIns="0" rtlCol="0" anchor="ctr"/>
          <a:lstStyle/>
          <a:p>
            <a:pPr algn="ctr" indent="0" marL="0">
              <a:buNone/>
            </a:pPr>
            <a:r>
              <a:rPr lang="en-US" sz="2800" b="1" dirty="0">
                <a:solidFill>
                  <a:srgbClr val="7C3AED"/>
                </a:solidFill>
              </a:rPr>
              <a:t>→</a:t>
            </a:r>
            <a:endParaRPr lang="en-US" sz="2800" dirty="0"/>
          </a:p>
        </p:txBody>
      </p:sp>
      <p:pic>
        <p:nvPicPr>
          <p:cNvPr id="7" name="Image 1" descr="/home/claude/diagrams/pulsar_mld.png">    </p:cNvPr>
          <p:cNvPicPr>
            <a:picLocks noChangeAspect="1"/>
          </p:cNvPicPr>
          <p:nvPr/>
        </p:nvPicPr>
        <p:blipFill>
          <a:blip r:embed="rId2"/>
          <a:srcRect l="0" r="0" t="0" b="0"/>
          <a:stretch/>
        </p:blipFill>
        <p:spPr>
          <a:xfrm>
            <a:off x="5212080" y="960120"/>
            <a:ext cx="3657600" cy="3200400"/>
          </a:xfrm>
          <a:prstGeom prst="rect">
            <a:avLst/>
          </a:prstGeom>
        </p:spPr>
      </p:pic>
      <p:sp>
        <p:nvSpPr>
          <p:cNvPr id="8" name="Text 4"/>
          <p:cNvSpPr/>
          <p:nvPr/>
        </p:nvSpPr>
        <p:spPr>
          <a:xfrm>
            <a:off x="5212080" y="4206240"/>
            <a:ext cx="3657600" cy="274320"/>
          </a:xfrm>
          <a:prstGeom prst="rect">
            <a:avLst/>
          </a:prstGeom>
          <a:noFill/>
          <a:ln/>
        </p:spPr>
        <p:txBody>
          <a:bodyPr wrap="square" lIns="0" tIns="0" rIns="0" bIns="0" rtlCol="0" anchor="ctr"/>
          <a:lstStyle/>
          <a:p>
            <a:pPr algn="ctr" indent="0" marL="0">
              <a:buNone/>
            </a:pPr>
            <a:r>
              <a:rPr lang="en-US" sz="1000" b="1" dirty="0">
                <a:solidFill>
                  <a:srgbClr val="3B82F6"/>
                </a:solidFill>
              </a:rPr>
              <a:t>MLD — Logique</a:t>
            </a:r>
            <a:endParaRPr lang="en-US" sz="1000" dirty="0"/>
          </a:p>
        </p:txBody>
      </p:sp>
      <p:sp>
        <p:nvSpPr>
          <p:cNvPr id="9" name="Shape 5"/>
          <p:cNvSpPr/>
          <p:nvPr/>
        </p:nvSpPr>
        <p:spPr>
          <a:xfrm>
            <a:off x="457200" y="4572000"/>
            <a:ext cx="384048" cy="384048"/>
          </a:xfrm>
          <a:prstGeom prst="ellipse">
            <a:avLst/>
          </a:prstGeom>
          <a:solidFill>
            <a:srgbClr val="7C3AED"/>
          </a:solidFill>
          <a:ln w="12700">
            <a:solidFill>
              <a:srgbClr val="7C3AED"/>
            </a:solidFill>
            <a:prstDash val="solid"/>
          </a:ln>
        </p:spPr>
      </p:sp>
      <p:sp>
        <p:nvSpPr>
          <p:cNvPr id="10" name="Text 6"/>
          <p:cNvSpPr/>
          <p:nvPr/>
        </p:nvSpPr>
        <p:spPr>
          <a:xfrm>
            <a:off x="457200" y="4572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7"/>
          <p:cNvSpPr/>
          <p:nvPr/>
        </p:nvSpPr>
        <p:spPr>
          <a:xfrm>
            <a:off x="932688" y="4590288"/>
            <a:ext cx="2560320" cy="347472"/>
          </a:xfrm>
          <a:prstGeom prst="rect">
            <a:avLst/>
          </a:prstGeom>
          <a:noFill/>
          <a:ln/>
        </p:spPr>
        <p:txBody>
          <a:bodyPr wrap="square" lIns="0" tIns="0" rIns="0" bIns="0" rtlCol="0" anchor="ctr"/>
          <a:lstStyle/>
          <a:p>
            <a:pPr algn="l" indent="0" marL="0">
              <a:buNone/>
            </a:pPr>
            <a:r>
              <a:rPr lang="en-US" sz="1100" dirty="0">
                <a:solidFill>
                  <a:srgbClr val="0F172A"/>
                </a:solidFill>
              </a:rPr>
              <a:t>Chaque entité → table</a:t>
            </a:r>
            <a:endParaRPr lang="en-US" sz="1100" dirty="0"/>
          </a:p>
        </p:txBody>
      </p:sp>
      <p:sp>
        <p:nvSpPr>
          <p:cNvPr id="12" name="Shape 8"/>
          <p:cNvSpPr/>
          <p:nvPr/>
        </p:nvSpPr>
        <p:spPr>
          <a:xfrm>
            <a:off x="3291840" y="4572000"/>
            <a:ext cx="384048" cy="384048"/>
          </a:xfrm>
          <a:prstGeom prst="ellipse">
            <a:avLst/>
          </a:prstGeom>
          <a:solidFill>
            <a:srgbClr val="10B981"/>
          </a:solidFill>
          <a:ln w="12700">
            <a:solidFill>
              <a:srgbClr val="10B981"/>
            </a:solidFill>
            <a:prstDash val="solid"/>
          </a:ln>
        </p:spPr>
      </p:sp>
      <p:sp>
        <p:nvSpPr>
          <p:cNvPr id="13" name="Text 9"/>
          <p:cNvSpPr/>
          <p:nvPr/>
        </p:nvSpPr>
        <p:spPr>
          <a:xfrm>
            <a:off x="3291840" y="4572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4" name="Text 10"/>
          <p:cNvSpPr/>
          <p:nvPr/>
        </p:nvSpPr>
        <p:spPr>
          <a:xfrm>
            <a:off x="3767328" y="4590288"/>
            <a:ext cx="2560320" cy="347472"/>
          </a:xfrm>
          <a:prstGeom prst="rect">
            <a:avLst/>
          </a:prstGeom>
          <a:noFill/>
          <a:ln/>
        </p:spPr>
        <p:txBody>
          <a:bodyPr wrap="square" lIns="0" tIns="0" rIns="0" bIns="0" rtlCol="0" anchor="ctr"/>
          <a:lstStyle/>
          <a:p>
            <a:pPr algn="l" indent="0" marL="0">
              <a:buNone/>
            </a:pPr>
            <a:r>
              <a:rPr lang="en-US" sz="1100" dirty="0">
                <a:solidFill>
                  <a:srgbClr val="0F172A"/>
                </a:solidFill>
              </a:rPr>
              <a:t>Identifiant → clé primaire (PK)</a:t>
            </a:r>
            <a:endParaRPr lang="en-US" sz="1100" dirty="0"/>
          </a:p>
        </p:txBody>
      </p:sp>
      <p:sp>
        <p:nvSpPr>
          <p:cNvPr id="15" name="Shape 11"/>
          <p:cNvSpPr/>
          <p:nvPr/>
        </p:nvSpPr>
        <p:spPr>
          <a:xfrm>
            <a:off x="6126480" y="4572000"/>
            <a:ext cx="384048" cy="384048"/>
          </a:xfrm>
          <a:prstGeom prst="ellipse">
            <a:avLst/>
          </a:prstGeom>
          <a:solidFill>
            <a:srgbClr val="F59E0B"/>
          </a:solidFill>
          <a:ln w="12700">
            <a:solidFill>
              <a:srgbClr val="F59E0B"/>
            </a:solidFill>
            <a:prstDash val="solid"/>
          </a:ln>
        </p:spPr>
      </p:sp>
      <p:sp>
        <p:nvSpPr>
          <p:cNvPr id="16" name="Text 12"/>
          <p:cNvSpPr/>
          <p:nvPr/>
        </p:nvSpPr>
        <p:spPr>
          <a:xfrm>
            <a:off x="6126480" y="4572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3"/>
          <p:cNvSpPr/>
          <p:nvPr/>
        </p:nvSpPr>
        <p:spPr>
          <a:xfrm>
            <a:off x="6601968" y="4590288"/>
            <a:ext cx="2560320" cy="347472"/>
          </a:xfrm>
          <a:prstGeom prst="rect">
            <a:avLst/>
          </a:prstGeom>
          <a:noFill/>
          <a:ln/>
        </p:spPr>
        <p:txBody>
          <a:bodyPr wrap="square" lIns="0" tIns="0" rIns="0" bIns="0" rtlCol="0" anchor="ctr"/>
          <a:lstStyle/>
          <a:p>
            <a:pPr algn="l" indent="0" marL="0">
              <a:buNone/>
            </a:pPr>
            <a:r>
              <a:rPr lang="en-US" sz="1100" dirty="0">
                <a:solidFill>
                  <a:srgbClr val="0F172A"/>
                </a:solidFill>
              </a:rPr>
              <a:t>Association 1,N → clé étrangère (FK)</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lIns="0" tIns="0" rIns="0" bIns="0" rtlCol="0" anchor="ctr"/>
          <a:lstStyle/>
          <a:p>
            <a:pPr algn="l" indent="0" marL="0">
              <a:buNone/>
            </a:pPr>
            <a:r>
              <a:rPr lang="en-US" sz="2600" b="1" dirty="0">
                <a:solidFill>
                  <a:srgbClr val="7C3AED"/>
                </a:solidFill>
              </a:rPr>
              <a:t>Classes &amp; Activité UML</a:t>
            </a:r>
            <a:endParaRPr lang="en-US" sz="2600" dirty="0"/>
          </a:p>
        </p:txBody>
      </p:sp>
      <p:sp>
        <p:nvSpPr>
          <p:cNvPr id="3" name="Text 1"/>
          <p:cNvSpPr/>
          <p:nvPr/>
        </p:nvSpPr>
        <p:spPr>
          <a:xfrm>
            <a:off x="457200" y="658368"/>
            <a:ext cx="8229600" cy="256032"/>
          </a:xfrm>
          <a:prstGeom prst="rect">
            <a:avLst/>
          </a:prstGeom>
          <a:noFill/>
          <a:ln/>
        </p:spPr>
        <p:txBody>
          <a:bodyPr wrap="square" lIns="0" tIns="0" rIns="0" bIns="0" rtlCol="0" anchor="ctr"/>
          <a:lstStyle/>
          <a:p>
            <a:pPr algn="l" indent="0" marL="0">
              <a:buNone/>
            </a:pPr>
            <a:r>
              <a:rPr lang="en-US" sz="1200" dirty="0">
                <a:solidFill>
                  <a:srgbClr val="94A3B8"/>
                </a:solidFill>
              </a:rPr>
              <a:t>Structure objet du code Flutter · Flux de contrôle du parcours principal</a:t>
            </a:r>
            <a:endParaRPr lang="en-US" sz="1200" dirty="0"/>
          </a:p>
        </p:txBody>
      </p:sp>
      <p:pic>
        <p:nvPicPr>
          <p:cNvPr id="4" name="Image 0" descr="/home/claude/diagrams/pulsar_diagramme_classes.png">    </p:cNvPr>
          <p:cNvPicPr>
            <a:picLocks noChangeAspect="1"/>
          </p:cNvPicPr>
          <p:nvPr/>
        </p:nvPicPr>
        <p:blipFill>
          <a:blip r:embed="rId1"/>
          <a:srcRect l="0" r="0" t="0" b="0"/>
          <a:stretch/>
        </p:blipFill>
        <p:spPr>
          <a:xfrm>
            <a:off x="274320" y="914400"/>
            <a:ext cx="5029200" cy="3474720"/>
          </a:xfrm>
          <a:prstGeom prst="rect">
            <a:avLst/>
          </a:prstGeom>
        </p:spPr>
      </p:pic>
      <p:sp>
        <p:nvSpPr>
          <p:cNvPr id="5" name="Text 2"/>
          <p:cNvSpPr/>
          <p:nvPr/>
        </p:nvSpPr>
        <p:spPr>
          <a:xfrm>
            <a:off x="274320" y="4407408"/>
            <a:ext cx="5029200" cy="256032"/>
          </a:xfrm>
          <a:prstGeom prst="rect">
            <a:avLst/>
          </a:prstGeom>
          <a:noFill/>
          <a:ln/>
        </p:spPr>
        <p:txBody>
          <a:bodyPr wrap="square" lIns="0" tIns="0" rIns="0" bIns="0" rtlCol="0" anchor="ctr"/>
          <a:lstStyle/>
          <a:p>
            <a:pPr algn="ctr" indent="0" marL="0">
              <a:buNone/>
            </a:pPr>
            <a:r>
              <a:rPr lang="en-US" sz="1000" b="1" dirty="0">
                <a:solidFill>
                  <a:srgbClr val="7C3AED"/>
                </a:solidFill>
              </a:rPr>
              <a:t>Diagramme de Classes</a:t>
            </a:r>
            <a:endParaRPr lang="en-US" sz="1000" dirty="0"/>
          </a:p>
        </p:txBody>
      </p:sp>
      <p:pic>
        <p:nvPicPr>
          <p:cNvPr id="6" name="Image 1" descr="/home/claude/diagrams/pulsar_diagramme_activite.png">    </p:cNvPr>
          <p:cNvPicPr>
            <a:picLocks noChangeAspect="1"/>
          </p:cNvPicPr>
          <p:nvPr/>
        </p:nvPicPr>
        <p:blipFill>
          <a:blip r:embed="rId2"/>
          <a:srcRect l="0" r="0" t="0" b="0"/>
          <a:stretch/>
        </p:blipFill>
        <p:spPr>
          <a:xfrm>
            <a:off x="5486400" y="914400"/>
            <a:ext cx="3474720" cy="3474720"/>
          </a:xfrm>
          <a:prstGeom prst="rect">
            <a:avLst/>
          </a:prstGeom>
        </p:spPr>
      </p:pic>
      <p:sp>
        <p:nvSpPr>
          <p:cNvPr id="7" name="Text 3"/>
          <p:cNvSpPr/>
          <p:nvPr/>
        </p:nvSpPr>
        <p:spPr>
          <a:xfrm>
            <a:off x="5486400" y="4407408"/>
            <a:ext cx="3474720" cy="256032"/>
          </a:xfrm>
          <a:prstGeom prst="rect">
            <a:avLst/>
          </a:prstGeom>
          <a:noFill/>
          <a:ln/>
        </p:spPr>
        <p:txBody>
          <a:bodyPr wrap="square" lIns="0" tIns="0" rIns="0" bIns="0" rtlCol="0" anchor="ctr"/>
          <a:lstStyle/>
          <a:p>
            <a:pPr algn="ctr" indent="0" marL="0">
              <a:buNone/>
            </a:pPr>
            <a:r>
              <a:rPr lang="en-US" sz="1000" b="1" dirty="0">
                <a:solidFill>
                  <a:srgbClr val="3B82F6"/>
                </a:solidFill>
              </a:rPr>
              <a:t>Diagramme d'Activité</a:t>
            </a:r>
            <a:endParaRPr lang="en-US" sz="1000" dirty="0"/>
          </a:p>
        </p:txBody>
      </p:sp>
      <p:sp>
        <p:nvSpPr>
          <p:cNvPr id="8" name="Shape 4"/>
          <p:cNvSpPr/>
          <p:nvPr/>
        </p:nvSpPr>
        <p:spPr>
          <a:xfrm>
            <a:off x="274320" y="4727448"/>
            <a:ext cx="91440" cy="91440"/>
          </a:xfrm>
          <a:prstGeom prst="ellipse">
            <a:avLst/>
          </a:prstGeom>
          <a:solidFill>
            <a:srgbClr val="7C3AED"/>
          </a:solidFill>
          <a:ln w="12700">
            <a:solidFill>
              <a:srgbClr val="7C3AED"/>
            </a:solidFill>
            <a:prstDash val="solid"/>
          </a:ln>
        </p:spPr>
      </p:sp>
      <p:sp>
        <p:nvSpPr>
          <p:cNvPr id="9" name="Text 5"/>
          <p:cNvSpPr/>
          <p:nvPr/>
        </p:nvSpPr>
        <p:spPr>
          <a:xfrm>
            <a:off x="274320" y="4709160"/>
            <a:ext cx="8686800" cy="201168"/>
          </a:xfrm>
          <a:prstGeom prst="rect">
            <a:avLst/>
          </a:prstGeom>
          <a:noFill/>
          <a:ln/>
        </p:spPr>
        <p:txBody>
          <a:bodyPr wrap="square" lIns="0" tIns="0" rIns="0" bIns="0" rtlCol="0" anchor="ctr"/>
          <a:lstStyle/>
          <a:p>
            <a:pPr algn="l" indent="0" marL="0">
              <a:buNone/>
            </a:pPr>
            <a:r>
              <a:rPr lang="en-US" sz="950" dirty="0">
                <a:solidFill>
                  <a:srgbClr val="0F172A"/>
                </a:solidFill>
              </a:rPr>
              <a:t>● 5 modèles Freezed immutables (domain)</a:t>
            </a:r>
            <a:endParaRPr lang="en-US" sz="950" dirty="0"/>
          </a:p>
        </p:txBody>
      </p:sp>
      <p:sp>
        <p:nvSpPr>
          <p:cNvPr id="10" name="Shape 6"/>
          <p:cNvSpPr/>
          <p:nvPr/>
        </p:nvSpPr>
        <p:spPr>
          <a:xfrm>
            <a:off x="274320" y="4727448"/>
            <a:ext cx="91440" cy="91440"/>
          </a:xfrm>
          <a:prstGeom prst="ellipse">
            <a:avLst/>
          </a:prstGeom>
          <a:solidFill>
            <a:srgbClr val="10B981"/>
          </a:solidFill>
          <a:ln w="12700">
            <a:solidFill>
              <a:srgbClr val="10B981"/>
            </a:solidFill>
            <a:prstDash val="solid"/>
          </a:ln>
        </p:spPr>
      </p:sp>
      <p:sp>
        <p:nvSpPr>
          <p:cNvPr id="11" name="Text 7"/>
          <p:cNvSpPr/>
          <p:nvPr/>
        </p:nvSpPr>
        <p:spPr>
          <a:xfrm>
            <a:off x="274320" y="4709160"/>
            <a:ext cx="8686800" cy="201168"/>
          </a:xfrm>
          <a:prstGeom prst="rect">
            <a:avLst/>
          </a:prstGeom>
          <a:noFill/>
          <a:ln/>
        </p:spPr>
        <p:txBody>
          <a:bodyPr wrap="square" lIns="0" tIns="0" rIns="0" bIns="0" rtlCol="0" anchor="ctr"/>
          <a:lstStyle/>
          <a:p>
            <a:pPr algn="l" indent="0" marL="0">
              <a:buNone/>
            </a:pPr>
            <a:r>
              <a:rPr lang="en-US" sz="950" dirty="0">
                <a:solidFill>
                  <a:srgbClr val="0F172A"/>
                </a:solidFill>
              </a:rPr>
              <a:t>● 3 repositories (data) → IsarService</a:t>
            </a:r>
            <a:endParaRPr lang="en-US" sz="950" dirty="0"/>
          </a:p>
        </p:txBody>
      </p:sp>
      <p:sp>
        <p:nvSpPr>
          <p:cNvPr id="12" name="Shape 8"/>
          <p:cNvSpPr/>
          <p:nvPr/>
        </p:nvSpPr>
        <p:spPr>
          <a:xfrm>
            <a:off x="274320" y="4727448"/>
            <a:ext cx="91440" cy="91440"/>
          </a:xfrm>
          <a:prstGeom prst="ellipse">
            <a:avLst/>
          </a:prstGeom>
          <a:solidFill>
            <a:srgbClr val="3B82F6"/>
          </a:solidFill>
          <a:ln w="12700">
            <a:solidFill>
              <a:srgbClr val="3B82F6"/>
            </a:solidFill>
            <a:prstDash val="solid"/>
          </a:ln>
        </p:spPr>
      </p:sp>
      <p:sp>
        <p:nvSpPr>
          <p:cNvPr id="13" name="Text 9"/>
          <p:cNvSpPr/>
          <p:nvPr/>
        </p:nvSpPr>
        <p:spPr>
          <a:xfrm>
            <a:off x="274320" y="4709160"/>
            <a:ext cx="8686800" cy="201168"/>
          </a:xfrm>
          <a:prstGeom prst="rect">
            <a:avLst/>
          </a:prstGeom>
          <a:noFill/>
          <a:ln/>
        </p:spPr>
        <p:txBody>
          <a:bodyPr wrap="square" lIns="0" tIns="0" rIns="0" bIns="0" rtlCol="0" anchor="ctr"/>
          <a:lstStyle/>
          <a:p>
            <a:pPr algn="l" indent="0" marL="0">
              <a:buNone/>
            </a:pPr>
            <a:r>
              <a:rPr lang="en-US" sz="950" dirty="0">
                <a:solidFill>
                  <a:srgbClr val="0F172A"/>
                </a:solidFill>
              </a:rPr>
              <a:t>● 3 swimlanes : Utilisateur, Système, Organisateur</a:t>
            </a:r>
            <a:endParaRPr lang="en-US" sz="950" dirty="0"/>
          </a:p>
        </p:txBody>
      </p:sp>
      <p:sp>
        <p:nvSpPr>
          <p:cNvPr id="14" name="Shape 10"/>
          <p:cNvSpPr/>
          <p:nvPr/>
        </p:nvSpPr>
        <p:spPr>
          <a:xfrm>
            <a:off x="274320" y="4727448"/>
            <a:ext cx="91440" cy="91440"/>
          </a:xfrm>
          <a:prstGeom prst="ellipse">
            <a:avLst/>
          </a:prstGeom>
          <a:solidFill>
            <a:srgbClr val="F59E0B"/>
          </a:solidFill>
          <a:ln w="12700">
            <a:solidFill>
              <a:srgbClr val="F59E0B"/>
            </a:solidFill>
            <a:prstDash val="solid"/>
          </a:ln>
        </p:spPr>
      </p:sp>
      <p:sp>
        <p:nvSpPr>
          <p:cNvPr id="15" name="Text 11"/>
          <p:cNvSpPr/>
          <p:nvPr/>
        </p:nvSpPr>
        <p:spPr>
          <a:xfrm>
            <a:off x="274320" y="4709160"/>
            <a:ext cx="8686800" cy="201168"/>
          </a:xfrm>
          <a:prstGeom prst="rect">
            <a:avLst/>
          </a:prstGeom>
          <a:noFill/>
          <a:ln/>
        </p:spPr>
        <p:txBody>
          <a:bodyPr wrap="square" lIns="0" tIns="0" rIns="0" bIns="0" rtlCol="0" anchor="ctr"/>
          <a:lstStyle/>
          <a:p>
            <a:pPr algn="l" indent="0" marL="0">
              <a:buNone/>
            </a:pPr>
            <a:r>
              <a:rPr lang="en-US" sz="950" dirty="0">
                <a:solidFill>
                  <a:srgbClr val="0F172A"/>
                </a:solidFill>
              </a:rPr>
              <a:t>● Fork/Join = transport + hébergement en parallèle</a:t>
            </a:r>
            <a:endParaRPr lang="en-US" sz="950" dirty="0"/>
          </a:p>
        </p:txBody>
      </p:sp>
      <p:sp>
        <p:nvSpPr>
          <p:cNvPr id="16" name="Text 12"/>
          <p:cNvSpPr/>
          <p:nvPr/>
        </p:nvSpPr>
        <p:spPr>
          <a:xfrm>
            <a:off x="274320" y="4700016"/>
            <a:ext cx="8686800" cy="182880"/>
          </a:xfrm>
          <a:prstGeom prst="rect">
            <a:avLst/>
          </a:prstGeom>
          <a:noFill/>
          <a:ln/>
        </p:spPr>
        <p:txBody>
          <a:bodyPr wrap="square" lIns="0" tIns="0" rIns="0" bIns="0" rtlCol="0" anchor="ctr"/>
          <a:lstStyle/>
          <a:p>
            <a:pPr algn="l" indent="0" marL="0">
              <a:buNone/>
            </a:pPr>
            <a:r>
              <a:rPr lang="en-US" sz="950" dirty="0">
                <a:solidFill>
                  <a:srgbClr val="0F172A"/>
                </a:solidFill>
              </a:rPr>
              <a:t>● 5 modèles Freezed immutables (domain)</a:t>
            </a:r>
            <a:endParaRPr lang="en-US" sz="950" dirty="0"/>
          </a:p>
        </p:txBody>
      </p:sp>
      <p:sp>
        <p:nvSpPr>
          <p:cNvPr id="17" name="Text 13"/>
          <p:cNvSpPr/>
          <p:nvPr/>
        </p:nvSpPr>
        <p:spPr>
          <a:xfrm>
            <a:off x="274320" y="4892040"/>
            <a:ext cx="8686800" cy="182880"/>
          </a:xfrm>
          <a:prstGeom prst="rect">
            <a:avLst/>
          </a:prstGeom>
          <a:noFill/>
          <a:ln/>
        </p:spPr>
        <p:txBody>
          <a:bodyPr wrap="square" lIns="0" tIns="0" rIns="0" bIns="0" rtlCol="0" anchor="ctr"/>
          <a:lstStyle/>
          <a:p>
            <a:pPr algn="l" indent="0" marL="0">
              <a:buNone/>
            </a:pPr>
            <a:r>
              <a:rPr lang="en-US" sz="950" dirty="0">
                <a:solidFill>
                  <a:srgbClr val="0F172A"/>
                </a:solidFill>
              </a:rPr>
              <a:t>● 3 repositories (data) → IsarService</a:t>
            </a:r>
            <a:endParaRPr lang="en-US" sz="950" dirty="0"/>
          </a:p>
        </p:txBody>
      </p:sp>
      <p:sp>
        <p:nvSpPr>
          <p:cNvPr id="18" name="Text 14"/>
          <p:cNvSpPr/>
          <p:nvPr/>
        </p:nvSpPr>
        <p:spPr>
          <a:xfrm>
            <a:off x="274320" y="5084064"/>
            <a:ext cx="8686800" cy="182880"/>
          </a:xfrm>
          <a:prstGeom prst="rect">
            <a:avLst/>
          </a:prstGeom>
          <a:noFill/>
          <a:ln/>
        </p:spPr>
        <p:txBody>
          <a:bodyPr wrap="square" lIns="0" tIns="0" rIns="0" bIns="0" rtlCol="0" anchor="ctr"/>
          <a:lstStyle/>
          <a:p>
            <a:pPr algn="l" indent="0" marL="0">
              <a:buNone/>
            </a:pPr>
            <a:r>
              <a:rPr lang="en-US" sz="950" dirty="0">
                <a:solidFill>
                  <a:srgbClr val="0F172A"/>
                </a:solidFill>
              </a:rPr>
              <a:t>● 3 swimlanes : Utilisateur, Système, Organisateur</a:t>
            </a:r>
            <a:endParaRPr lang="en-US" sz="950" dirty="0"/>
          </a:p>
        </p:txBody>
      </p:sp>
      <p:sp>
        <p:nvSpPr>
          <p:cNvPr id="19" name="Text 15"/>
          <p:cNvSpPr/>
          <p:nvPr/>
        </p:nvSpPr>
        <p:spPr>
          <a:xfrm>
            <a:off x="274320" y="5276088"/>
            <a:ext cx="8686800" cy="182880"/>
          </a:xfrm>
          <a:prstGeom prst="rect">
            <a:avLst/>
          </a:prstGeom>
          <a:noFill/>
          <a:ln/>
        </p:spPr>
        <p:txBody>
          <a:bodyPr wrap="square" lIns="0" tIns="0" rIns="0" bIns="0" rtlCol="0" anchor="ctr"/>
          <a:lstStyle/>
          <a:p>
            <a:pPr algn="l" indent="0" marL="0">
              <a:buNone/>
            </a:pPr>
            <a:r>
              <a:rPr lang="en-US" sz="950" dirty="0">
                <a:solidFill>
                  <a:srgbClr val="0F172A"/>
                </a:solidFill>
              </a:rPr>
              <a:t>● Fork/Join = transport + hébergement en parallèle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lIns="0" tIns="0" rIns="0" bIns="0" rtlCol="0" anchor="ctr"/>
          <a:lstStyle/>
          <a:p>
            <a:pPr algn="l" indent="0" marL="0">
              <a:buNone/>
            </a:pPr>
            <a:r>
              <a:rPr lang="en-US" sz="2600" b="1" dirty="0">
                <a:solidFill>
                  <a:srgbClr val="7C3AED"/>
                </a:solidFill>
              </a:rPr>
              <a:t>Parcours Utilisateurs — 5 flowcharts</a:t>
            </a:r>
            <a:endParaRPr lang="en-US" sz="2600" dirty="0"/>
          </a:p>
        </p:txBody>
      </p:sp>
      <p:sp>
        <p:nvSpPr>
          <p:cNvPr id="3" name="Text 1"/>
          <p:cNvSpPr/>
          <p:nvPr/>
        </p:nvSpPr>
        <p:spPr>
          <a:xfrm>
            <a:off x="457200" y="658368"/>
            <a:ext cx="8229600" cy="256032"/>
          </a:xfrm>
          <a:prstGeom prst="rect">
            <a:avLst/>
          </a:prstGeom>
          <a:noFill/>
          <a:ln/>
        </p:spPr>
        <p:txBody>
          <a:bodyPr wrap="square" lIns="0" tIns="0" rIns="0" bIns="0" rtlCol="0" anchor="ctr"/>
          <a:lstStyle/>
          <a:p>
            <a:pPr algn="l" indent="0" marL="0">
              <a:buNone/>
            </a:pPr>
            <a:r>
              <a:rPr lang="en-US" sz="1200" dirty="0">
                <a:solidFill>
                  <a:srgbClr val="94A3B8"/>
                </a:solidFill>
              </a:rPr>
              <a:t>Centrés Utilisateur · Intégrant Système, Organisateur et Hôte aux moments clés</a:t>
            </a:r>
            <a:endParaRPr lang="en-US" sz="1200" dirty="0"/>
          </a:p>
        </p:txBody>
      </p:sp>
      <p:pic>
        <p:nvPicPr>
          <p:cNvPr id="4" name="Image 0" descr="/home/claude/flowcharts/01_parcours_achat.png">    </p:cNvPr>
          <p:cNvPicPr>
            <a:picLocks noChangeAspect="1"/>
          </p:cNvPicPr>
          <p:nvPr/>
        </p:nvPicPr>
        <p:blipFill>
          <a:blip r:embed="rId1"/>
          <a:srcRect l="0" r="0" t="0" b="0"/>
          <a:stretch/>
        </p:blipFill>
        <p:spPr>
          <a:xfrm>
            <a:off x="274320" y="914400"/>
            <a:ext cx="3200400" cy="3840480"/>
          </a:xfrm>
          <a:prstGeom prst="rect">
            <a:avLst/>
          </a:prstGeom>
        </p:spPr>
      </p:pic>
      <p:sp>
        <p:nvSpPr>
          <p:cNvPr id="5" name="Shape 2"/>
          <p:cNvSpPr/>
          <p:nvPr/>
        </p:nvSpPr>
        <p:spPr>
          <a:xfrm>
            <a:off x="3657600" y="960120"/>
            <a:ext cx="5303520" cy="694944"/>
          </a:xfrm>
          <a:prstGeom prst="rect">
            <a:avLst/>
          </a:prstGeom>
          <a:solidFill>
            <a:srgbClr val="FFFFFF"/>
          </a:solidFill>
          <a:ln w="19050">
            <a:solidFill>
              <a:srgbClr val="7C3AED"/>
            </a:solidFill>
            <a:prstDash val="solid"/>
          </a:ln>
          <a:effectLst>
            <a:outerShdw sx="100000" sy="100000" kx="0" ky="0" algn="bl" rotWithShape="0" blurRad="101600" dist="38100" dir="8100000">
              <a:srgbClr val="000000">
                <a:alpha val="10000"/>
              </a:srgbClr>
            </a:outerShdw>
          </a:effectLst>
        </p:spPr>
      </p:sp>
      <p:sp>
        <p:nvSpPr>
          <p:cNvPr id="6" name="Shape 3"/>
          <p:cNvSpPr/>
          <p:nvPr/>
        </p:nvSpPr>
        <p:spPr>
          <a:xfrm>
            <a:off x="3657600" y="960120"/>
            <a:ext cx="420624" cy="694944"/>
          </a:xfrm>
          <a:prstGeom prst="rect">
            <a:avLst/>
          </a:prstGeom>
          <a:solidFill>
            <a:srgbClr val="7C3AED"/>
          </a:solidFill>
          <a:ln w="12700">
            <a:solidFill>
              <a:srgbClr val="7C3AED"/>
            </a:solidFill>
            <a:prstDash val="solid"/>
          </a:ln>
        </p:spPr>
      </p:sp>
      <p:sp>
        <p:nvSpPr>
          <p:cNvPr id="7" name="Text 4"/>
          <p:cNvSpPr/>
          <p:nvPr/>
        </p:nvSpPr>
        <p:spPr>
          <a:xfrm>
            <a:off x="3657600" y="960120"/>
            <a:ext cx="420624" cy="694944"/>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8" name="Text 5"/>
          <p:cNvSpPr/>
          <p:nvPr/>
        </p:nvSpPr>
        <p:spPr>
          <a:xfrm>
            <a:off x="4160520" y="1024128"/>
            <a:ext cx="4663440" cy="274320"/>
          </a:xfrm>
          <a:prstGeom prst="rect">
            <a:avLst/>
          </a:prstGeom>
          <a:noFill/>
          <a:ln/>
        </p:spPr>
        <p:txBody>
          <a:bodyPr wrap="square" lIns="0" tIns="0" rIns="0" bIns="0" rtlCol="0" anchor="ctr"/>
          <a:lstStyle/>
          <a:p>
            <a:pPr algn="l" indent="0" marL="0">
              <a:buNone/>
            </a:pPr>
            <a:r>
              <a:rPr lang="en-US" sz="1200" b="1" dirty="0">
                <a:solidFill>
                  <a:srgbClr val="7C3AED"/>
                </a:solidFill>
              </a:rPr>
              <a:t>Achat billet</a:t>
            </a:r>
            <a:endParaRPr lang="en-US" sz="1200" dirty="0"/>
          </a:p>
        </p:txBody>
      </p:sp>
      <p:sp>
        <p:nvSpPr>
          <p:cNvPr id="9" name="Text 6"/>
          <p:cNvSpPr/>
          <p:nvPr/>
        </p:nvSpPr>
        <p:spPr>
          <a:xfrm>
            <a:off x="4160520" y="1298448"/>
            <a:ext cx="4663440" cy="228600"/>
          </a:xfrm>
          <a:prstGeom prst="rect">
            <a:avLst/>
          </a:prstGeom>
          <a:noFill/>
          <a:ln/>
        </p:spPr>
        <p:txBody>
          <a:bodyPr wrap="square" lIns="0" tIns="0" rIns="0" bIns="0" rtlCol="0" anchor="ctr"/>
          <a:lstStyle/>
          <a:p>
            <a:pPr algn="l" indent="0" marL="0">
              <a:buNone/>
            </a:pPr>
            <a:r>
              <a:rPr lang="en-US" sz="1000" dirty="0">
                <a:solidFill>
                  <a:srgbClr val="94A3B8"/>
                </a:solidFill>
              </a:rPr>
              <a:t>8 étapes · de la découverte au QR</a:t>
            </a:r>
            <a:endParaRPr lang="en-US" sz="1000" dirty="0"/>
          </a:p>
        </p:txBody>
      </p:sp>
      <p:sp>
        <p:nvSpPr>
          <p:cNvPr id="10" name="Shape 7"/>
          <p:cNvSpPr/>
          <p:nvPr/>
        </p:nvSpPr>
        <p:spPr>
          <a:xfrm>
            <a:off x="3657600" y="1755648"/>
            <a:ext cx="5303520" cy="694944"/>
          </a:xfrm>
          <a:prstGeom prst="rect">
            <a:avLst/>
          </a:prstGeom>
          <a:solidFill>
            <a:srgbClr val="FFFFFF"/>
          </a:solidFill>
          <a:ln w="19050">
            <a:solidFill>
              <a:srgbClr val="10B981"/>
            </a:solidFill>
            <a:prstDash val="solid"/>
          </a:ln>
          <a:effectLst>
            <a:outerShdw sx="100000" sy="100000" kx="0" ky="0" algn="bl" rotWithShape="0" blurRad="101600" dist="38100" dir="8100000">
              <a:srgbClr val="000000">
                <a:alpha val="10000"/>
              </a:srgbClr>
            </a:outerShdw>
          </a:effectLst>
        </p:spPr>
      </p:sp>
      <p:sp>
        <p:nvSpPr>
          <p:cNvPr id="11" name="Shape 8"/>
          <p:cNvSpPr/>
          <p:nvPr/>
        </p:nvSpPr>
        <p:spPr>
          <a:xfrm>
            <a:off x="3657600" y="1755648"/>
            <a:ext cx="420624" cy="694944"/>
          </a:xfrm>
          <a:prstGeom prst="rect">
            <a:avLst/>
          </a:prstGeom>
          <a:solidFill>
            <a:srgbClr val="10B981"/>
          </a:solidFill>
          <a:ln w="12700">
            <a:solidFill>
              <a:srgbClr val="10B981"/>
            </a:solidFill>
            <a:prstDash val="solid"/>
          </a:ln>
        </p:spPr>
      </p:sp>
      <p:sp>
        <p:nvSpPr>
          <p:cNvPr id="12" name="Text 9"/>
          <p:cNvSpPr/>
          <p:nvPr/>
        </p:nvSpPr>
        <p:spPr>
          <a:xfrm>
            <a:off x="3657600" y="1755648"/>
            <a:ext cx="420624" cy="694944"/>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3" name="Text 10"/>
          <p:cNvSpPr/>
          <p:nvPr/>
        </p:nvSpPr>
        <p:spPr>
          <a:xfrm>
            <a:off x="4160520" y="1819656"/>
            <a:ext cx="4663440" cy="274320"/>
          </a:xfrm>
          <a:prstGeom prst="rect">
            <a:avLst/>
          </a:prstGeom>
          <a:noFill/>
          <a:ln/>
        </p:spPr>
        <p:txBody>
          <a:bodyPr wrap="square" lIns="0" tIns="0" rIns="0" bIns="0" rtlCol="0" anchor="ctr"/>
          <a:lstStyle/>
          <a:p>
            <a:pPr algn="l" indent="0" marL="0">
              <a:buNone/>
            </a:pPr>
            <a:r>
              <a:rPr lang="en-US" sz="1200" b="1" dirty="0">
                <a:solidFill>
                  <a:srgbClr val="10B981"/>
                </a:solidFill>
              </a:rPr>
              <a:t>Transport CO₂</a:t>
            </a:r>
            <a:endParaRPr lang="en-US" sz="1200" dirty="0"/>
          </a:p>
        </p:txBody>
      </p:sp>
      <p:sp>
        <p:nvSpPr>
          <p:cNvPr id="14" name="Text 11"/>
          <p:cNvSpPr/>
          <p:nvPr/>
        </p:nvSpPr>
        <p:spPr>
          <a:xfrm>
            <a:off x="4160520" y="2093976"/>
            <a:ext cx="4663440" cy="228600"/>
          </a:xfrm>
          <a:prstGeom prst="rect">
            <a:avLst/>
          </a:prstGeom>
          <a:noFill/>
          <a:ln/>
        </p:spPr>
        <p:txBody>
          <a:bodyPr wrap="square" lIns="0" tIns="0" rIns="0" bIns="0" rtlCol="0" anchor="ctr"/>
          <a:lstStyle/>
          <a:p>
            <a:pPr algn="l" indent="0" marL="0">
              <a:buNone/>
            </a:pPr>
            <a:r>
              <a:rPr lang="en-US" sz="1000" dirty="0">
                <a:solidFill>
                  <a:srgbClr val="94A3B8"/>
                </a:solidFill>
              </a:rPr>
              <a:t>3 branches · train/covoit/multimodal</a:t>
            </a:r>
            <a:endParaRPr lang="en-US" sz="1000" dirty="0"/>
          </a:p>
        </p:txBody>
      </p:sp>
      <p:sp>
        <p:nvSpPr>
          <p:cNvPr id="15" name="Shape 12"/>
          <p:cNvSpPr/>
          <p:nvPr/>
        </p:nvSpPr>
        <p:spPr>
          <a:xfrm>
            <a:off x="3657600" y="2551176"/>
            <a:ext cx="5303520" cy="694944"/>
          </a:xfrm>
          <a:prstGeom prst="rect">
            <a:avLst/>
          </a:prstGeom>
          <a:solidFill>
            <a:srgbClr val="FFFFFF"/>
          </a:solidFill>
          <a:ln w="19050">
            <a:solidFill>
              <a:srgbClr val="EC4899"/>
            </a:solidFill>
            <a:prstDash val="solid"/>
          </a:ln>
          <a:effectLst>
            <a:outerShdw sx="100000" sy="100000" kx="0" ky="0" algn="bl" rotWithShape="0" blurRad="101600" dist="38100" dir="8100000">
              <a:srgbClr val="000000">
                <a:alpha val="10000"/>
              </a:srgbClr>
            </a:outerShdw>
          </a:effectLst>
        </p:spPr>
      </p:sp>
      <p:sp>
        <p:nvSpPr>
          <p:cNvPr id="16" name="Shape 13"/>
          <p:cNvSpPr/>
          <p:nvPr/>
        </p:nvSpPr>
        <p:spPr>
          <a:xfrm>
            <a:off x="3657600" y="2551176"/>
            <a:ext cx="420624" cy="694944"/>
          </a:xfrm>
          <a:prstGeom prst="rect">
            <a:avLst/>
          </a:prstGeom>
          <a:solidFill>
            <a:srgbClr val="EC4899"/>
          </a:solidFill>
          <a:ln w="12700">
            <a:solidFill>
              <a:srgbClr val="EC4899"/>
            </a:solidFill>
            <a:prstDash val="solid"/>
          </a:ln>
        </p:spPr>
      </p:sp>
      <p:sp>
        <p:nvSpPr>
          <p:cNvPr id="17" name="Text 14"/>
          <p:cNvSpPr/>
          <p:nvPr/>
        </p:nvSpPr>
        <p:spPr>
          <a:xfrm>
            <a:off x="3657600" y="2551176"/>
            <a:ext cx="420624" cy="694944"/>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8" name="Text 15"/>
          <p:cNvSpPr/>
          <p:nvPr/>
        </p:nvSpPr>
        <p:spPr>
          <a:xfrm>
            <a:off x="4160520" y="2615184"/>
            <a:ext cx="4663440" cy="274320"/>
          </a:xfrm>
          <a:prstGeom prst="rect">
            <a:avLst/>
          </a:prstGeom>
          <a:noFill/>
          <a:ln/>
        </p:spPr>
        <p:txBody>
          <a:bodyPr wrap="square" lIns="0" tIns="0" rIns="0" bIns="0" rtlCol="0" anchor="ctr"/>
          <a:lstStyle/>
          <a:p>
            <a:pPr algn="l" indent="0" marL="0">
              <a:buNone/>
            </a:pPr>
            <a:r>
              <a:rPr lang="en-US" sz="1200" b="1" dirty="0">
                <a:solidFill>
                  <a:srgbClr val="EC4899"/>
                </a:solidFill>
              </a:rPr>
              <a:t>Hébergement</a:t>
            </a:r>
            <a:endParaRPr lang="en-US" sz="1200" dirty="0"/>
          </a:p>
        </p:txBody>
      </p:sp>
      <p:sp>
        <p:nvSpPr>
          <p:cNvPr id="19" name="Text 16"/>
          <p:cNvSpPr/>
          <p:nvPr/>
        </p:nvSpPr>
        <p:spPr>
          <a:xfrm>
            <a:off x="4160520" y="2889504"/>
            <a:ext cx="4663440" cy="228600"/>
          </a:xfrm>
          <a:prstGeom prst="rect">
            <a:avLst/>
          </a:prstGeom>
          <a:noFill/>
          <a:ln/>
        </p:spPr>
        <p:txBody>
          <a:bodyPr wrap="square" lIns="0" tIns="0" rIns="0" bIns="0" rtlCol="0" anchor="ctr"/>
          <a:lstStyle/>
          <a:p>
            <a:pPr algn="l" indent="0" marL="0">
              <a:buNone/>
            </a:pPr>
            <a:r>
              <a:rPr lang="en-US" sz="1000" dirty="0">
                <a:solidFill>
                  <a:srgbClr val="94A3B8"/>
                </a:solidFill>
              </a:rPr>
              <a:t>6 étapes · classique ou collaboratif</a:t>
            </a:r>
            <a:endParaRPr lang="en-US" sz="1000" dirty="0"/>
          </a:p>
        </p:txBody>
      </p:sp>
      <p:sp>
        <p:nvSpPr>
          <p:cNvPr id="20" name="Shape 17"/>
          <p:cNvSpPr/>
          <p:nvPr/>
        </p:nvSpPr>
        <p:spPr>
          <a:xfrm>
            <a:off x="3657600" y="3346704"/>
            <a:ext cx="5303520" cy="694944"/>
          </a:xfrm>
          <a:prstGeom prst="rect">
            <a:avLst/>
          </a:prstGeom>
          <a:solidFill>
            <a:srgbClr val="FFFFFF"/>
          </a:solidFill>
          <a:ln w="19050">
            <a:solidFill>
              <a:srgbClr val="F59E0B"/>
            </a:solidFill>
            <a:prstDash val="solid"/>
          </a:ln>
          <a:effectLst>
            <a:outerShdw sx="100000" sy="100000" kx="0" ky="0" algn="bl" rotWithShape="0" blurRad="101600" dist="38100" dir="8100000">
              <a:srgbClr val="000000">
                <a:alpha val="10000"/>
              </a:srgbClr>
            </a:outerShdw>
          </a:effectLst>
        </p:spPr>
      </p:sp>
      <p:sp>
        <p:nvSpPr>
          <p:cNvPr id="21" name="Shape 18"/>
          <p:cNvSpPr/>
          <p:nvPr/>
        </p:nvSpPr>
        <p:spPr>
          <a:xfrm>
            <a:off x="3657600" y="3346704"/>
            <a:ext cx="420624" cy="694944"/>
          </a:xfrm>
          <a:prstGeom prst="rect">
            <a:avLst/>
          </a:prstGeom>
          <a:solidFill>
            <a:srgbClr val="F59E0B"/>
          </a:solidFill>
          <a:ln w="12700">
            <a:solidFill>
              <a:srgbClr val="F59E0B"/>
            </a:solidFill>
            <a:prstDash val="solid"/>
          </a:ln>
        </p:spPr>
      </p:sp>
      <p:sp>
        <p:nvSpPr>
          <p:cNvPr id="22" name="Text 19"/>
          <p:cNvSpPr/>
          <p:nvPr/>
        </p:nvSpPr>
        <p:spPr>
          <a:xfrm>
            <a:off x="3657600" y="3346704"/>
            <a:ext cx="420624" cy="694944"/>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23" name="Text 20"/>
          <p:cNvSpPr/>
          <p:nvPr/>
        </p:nvSpPr>
        <p:spPr>
          <a:xfrm>
            <a:off x="4160520" y="3410712"/>
            <a:ext cx="4663440" cy="274320"/>
          </a:xfrm>
          <a:prstGeom prst="rect">
            <a:avLst/>
          </a:prstGeom>
          <a:noFill/>
          <a:ln/>
        </p:spPr>
        <p:txBody>
          <a:bodyPr wrap="square" lIns="0" tIns="0" rIns="0" bIns="0" rtlCol="0" anchor="ctr"/>
          <a:lstStyle/>
          <a:p>
            <a:pPr algn="l" indent="0" marL="0">
              <a:buNone/>
            </a:pPr>
            <a:r>
              <a:rPr lang="en-US" sz="1200" b="1" dirty="0">
                <a:solidFill>
                  <a:srgbClr val="F59E0B"/>
                </a:solidFill>
              </a:rPr>
              <a:t>Jour J</a:t>
            </a:r>
            <a:endParaRPr lang="en-US" sz="1200" dirty="0"/>
          </a:p>
        </p:txBody>
      </p:sp>
      <p:sp>
        <p:nvSpPr>
          <p:cNvPr id="24" name="Text 21"/>
          <p:cNvSpPr/>
          <p:nvPr/>
        </p:nvSpPr>
        <p:spPr>
          <a:xfrm>
            <a:off x="4160520" y="3685032"/>
            <a:ext cx="4663440" cy="228600"/>
          </a:xfrm>
          <a:prstGeom prst="rect">
            <a:avLst/>
          </a:prstGeom>
          <a:noFill/>
          <a:ln/>
        </p:spPr>
        <p:txBody>
          <a:bodyPr wrap="square" lIns="0" tIns="0" rIns="0" bIns="0" rtlCol="0" anchor="ctr"/>
          <a:lstStyle/>
          <a:p>
            <a:pPr algn="l" indent="0" marL="0">
              <a:buNone/>
            </a:pPr>
            <a:r>
              <a:rPr lang="en-US" sz="1000" dirty="0">
                <a:solidFill>
                  <a:srgbClr val="94A3B8"/>
                </a:solidFill>
              </a:rPr>
              <a:t>7 étapes · scan → bilan post-event</a:t>
            </a:r>
            <a:endParaRPr lang="en-US" sz="1000" dirty="0"/>
          </a:p>
        </p:txBody>
      </p:sp>
      <p:sp>
        <p:nvSpPr>
          <p:cNvPr id="25" name="Shape 22"/>
          <p:cNvSpPr/>
          <p:nvPr/>
        </p:nvSpPr>
        <p:spPr>
          <a:xfrm>
            <a:off x="3657600" y="4142232"/>
            <a:ext cx="5303520" cy="694944"/>
          </a:xfrm>
          <a:prstGeom prst="rect">
            <a:avLst/>
          </a:prstGeom>
          <a:solidFill>
            <a:srgbClr val="FFFFFF"/>
          </a:solidFill>
          <a:ln w="19050">
            <a:solidFill>
              <a:srgbClr val="3B82F6"/>
            </a:solidFill>
            <a:prstDash val="solid"/>
          </a:ln>
          <a:effectLst>
            <a:outerShdw sx="100000" sy="100000" kx="0" ky="0" algn="bl" rotWithShape="0" blurRad="101600" dist="38100" dir="8100000">
              <a:srgbClr val="000000">
                <a:alpha val="10000"/>
              </a:srgbClr>
            </a:outerShdw>
          </a:effectLst>
        </p:spPr>
      </p:sp>
      <p:sp>
        <p:nvSpPr>
          <p:cNvPr id="26" name="Shape 23"/>
          <p:cNvSpPr/>
          <p:nvPr/>
        </p:nvSpPr>
        <p:spPr>
          <a:xfrm>
            <a:off x="3657600" y="4142232"/>
            <a:ext cx="420624" cy="694944"/>
          </a:xfrm>
          <a:prstGeom prst="rect">
            <a:avLst/>
          </a:prstGeom>
          <a:solidFill>
            <a:srgbClr val="3B82F6"/>
          </a:solidFill>
          <a:ln w="12700">
            <a:solidFill>
              <a:srgbClr val="3B82F6"/>
            </a:solidFill>
            <a:prstDash val="solid"/>
          </a:ln>
        </p:spPr>
      </p:sp>
      <p:sp>
        <p:nvSpPr>
          <p:cNvPr id="27" name="Text 24"/>
          <p:cNvSpPr/>
          <p:nvPr/>
        </p:nvSpPr>
        <p:spPr>
          <a:xfrm>
            <a:off x="3657600" y="4142232"/>
            <a:ext cx="420624" cy="694944"/>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8" name="Text 25"/>
          <p:cNvSpPr/>
          <p:nvPr/>
        </p:nvSpPr>
        <p:spPr>
          <a:xfrm>
            <a:off x="4160520" y="4206240"/>
            <a:ext cx="4663440" cy="274320"/>
          </a:xfrm>
          <a:prstGeom prst="rect">
            <a:avLst/>
          </a:prstGeom>
          <a:noFill/>
          <a:ln/>
        </p:spPr>
        <p:txBody>
          <a:bodyPr wrap="square" lIns="0" tIns="0" rIns="0" bIns="0" rtlCol="0" anchor="ctr"/>
          <a:lstStyle/>
          <a:p>
            <a:pPr algn="l" indent="0" marL="0">
              <a:buNone/>
            </a:pPr>
            <a:r>
              <a:rPr lang="en-US" sz="1200" b="1" dirty="0">
                <a:solidFill>
                  <a:srgbClr val="3B82F6"/>
                </a:solidFill>
              </a:rPr>
              <a:t>Vue globale</a:t>
            </a:r>
            <a:endParaRPr lang="en-US" sz="1200" dirty="0"/>
          </a:p>
        </p:txBody>
      </p:sp>
      <p:sp>
        <p:nvSpPr>
          <p:cNvPr id="29" name="Text 26"/>
          <p:cNvSpPr/>
          <p:nvPr/>
        </p:nvSpPr>
        <p:spPr>
          <a:xfrm>
            <a:off x="4160520" y="4480560"/>
            <a:ext cx="4663440" cy="228600"/>
          </a:xfrm>
          <a:prstGeom prst="rect">
            <a:avLst/>
          </a:prstGeom>
          <a:noFill/>
          <a:ln/>
        </p:spPr>
        <p:txBody>
          <a:bodyPr wrap="square" lIns="0" tIns="0" rIns="0" bIns="0" rtlCol="0" anchor="ctr"/>
          <a:lstStyle/>
          <a:p>
            <a:pPr algn="l" indent="0" marL="0">
              <a:buNone/>
            </a:pPr>
            <a:r>
              <a:rPr lang="en-US" sz="1000" dirty="0">
                <a:solidFill>
                  <a:srgbClr val="94A3B8"/>
                </a:solidFill>
              </a:rPr>
              <a:t>5 phases · J-30 → J+1</a:t>
            </a:r>
            <a:endParaRPr lang="en-US" sz="1000" dirty="0"/>
          </a:p>
        </p:txBody>
      </p:sp>
      <p:sp>
        <p:nvSpPr>
          <p:cNvPr id="30" name="Shape 27"/>
          <p:cNvSpPr/>
          <p:nvPr/>
        </p:nvSpPr>
        <p:spPr>
          <a:xfrm>
            <a:off x="274320" y="4809744"/>
            <a:ext cx="8686800" cy="292608"/>
          </a:xfrm>
          <a:prstGeom prst="rect">
            <a:avLst/>
          </a:prstGeom>
          <a:solidFill>
            <a:srgbClr val="D1FAE5"/>
          </a:solidFill>
          <a:ln w="19050">
            <a:solidFill>
              <a:srgbClr val="10B981"/>
            </a:solidFill>
            <a:prstDash val="solid"/>
          </a:ln>
          <a:effectLst>
            <a:outerShdw sx="100000" sy="100000" kx="0" ky="0" algn="bl" rotWithShape="0" blurRad="101600" dist="38100" dir="8100000">
              <a:srgbClr val="000000">
                <a:alpha val="10000"/>
              </a:srgbClr>
            </a:outerShdw>
          </a:effectLst>
        </p:spPr>
      </p:sp>
      <p:sp>
        <p:nvSpPr>
          <p:cNvPr id="31" name="Text 28"/>
          <p:cNvSpPr/>
          <p:nvPr/>
        </p:nvSpPr>
        <p:spPr>
          <a:xfrm>
            <a:off x="365760" y="4828032"/>
            <a:ext cx="8412480" cy="256032"/>
          </a:xfrm>
          <a:prstGeom prst="rect">
            <a:avLst/>
          </a:prstGeom>
          <a:noFill/>
          <a:ln/>
        </p:spPr>
        <p:txBody>
          <a:bodyPr wrap="square" lIns="0" tIns="0" rIns="0" bIns="0" rtlCol="0" anchor="ctr"/>
          <a:lstStyle/>
          <a:p>
            <a:pPr algn="l" indent="0" marL="0">
              <a:buNone/>
            </a:pPr>
            <a:r>
              <a:rPr lang="en-US" sz="950" dirty="0">
                <a:solidFill>
                  <a:srgbClr val="065F46"/>
                </a:solidFill>
              </a:rPr>
              <a:t>Chaque parcours est tracé aux user stories du CDC — les 5 parcours couvrent les 9 modules fonctionnels.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lIns="0" tIns="0" rIns="0" bIns="0" rtlCol="0" anchor="ctr"/>
          <a:lstStyle/>
          <a:p>
            <a:pPr algn="l" indent="0" marL="0">
              <a:buNone/>
            </a:pPr>
            <a:r>
              <a:rPr lang="en-US" sz="2600" b="1" dirty="0">
                <a:solidFill>
                  <a:srgbClr val="7C3AED"/>
                </a:solidFill>
              </a:rPr>
              <a:t>Sécurité — 6 couches de protection</a:t>
            </a:r>
            <a:endParaRPr lang="en-US" sz="2600" dirty="0"/>
          </a:p>
        </p:txBody>
      </p:sp>
      <p:sp>
        <p:nvSpPr>
          <p:cNvPr id="3" name="Shape 1"/>
          <p:cNvSpPr/>
          <p:nvPr/>
        </p:nvSpPr>
        <p:spPr>
          <a:xfrm>
            <a:off x="365760" y="868680"/>
            <a:ext cx="4206240" cy="1170432"/>
          </a:xfrm>
          <a:prstGeom prst="rect">
            <a:avLst/>
          </a:prstGeom>
          <a:solidFill>
            <a:srgbClr val="FFFFFF"/>
          </a:solidFill>
          <a:ln w="19050">
            <a:solidFill>
              <a:srgbClr val="7C3AED"/>
            </a:solidFill>
            <a:prstDash val="solid"/>
          </a:ln>
          <a:effectLst>
            <a:outerShdw sx="100000" sy="100000" kx="0" ky="0" algn="bl" rotWithShape="0" blurRad="101600" dist="38100" dir="8100000">
              <a:srgbClr val="000000">
                <a:alpha val="10000"/>
              </a:srgbClr>
            </a:outerShdw>
          </a:effectLst>
        </p:spPr>
      </p:sp>
      <p:sp>
        <p:nvSpPr>
          <p:cNvPr id="4" name="Shape 2"/>
          <p:cNvSpPr/>
          <p:nvPr/>
        </p:nvSpPr>
        <p:spPr>
          <a:xfrm>
            <a:off x="493776" y="1216152"/>
            <a:ext cx="475488" cy="475488"/>
          </a:xfrm>
          <a:prstGeom prst="ellipse">
            <a:avLst/>
          </a:prstGeom>
          <a:solidFill>
            <a:srgbClr val="7C3AED">
              <a:alpha val="15000"/>
            </a:srgbClr>
          </a:solidFill>
          <a:ln w="12700">
            <a:solidFill>
              <a:srgbClr val="7C3AED"/>
            </a:solidFill>
            <a:prstDash val="solid"/>
          </a:ln>
        </p:spPr>
      </p:sp>
      <p:sp>
        <p:nvSpPr>
          <p:cNvPr id="5" name="Text 3"/>
          <p:cNvSpPr/>
          <p:nvPr/>
        </p:nvSpPr>
        <p:spPr>
          <a:xfrm>
            <a:off x="457200" y="1188720"/>
            <a:ext cx="548640" cy="530352"/>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6" name="Text 4"/>
          <p:cNvSpPr/>
          <p:nvPr/>
        </p:nvSpPr>
        <p:spPr>
          <a:xfrm>
            <a:off x="1078992" y="996696"/>
            <a:ext cx="3383280" cy="329184"/>
          </a:xfrm>
          <a:prstGeom prst="rect">
            <a:avLst/>
          </a:prstGeom>
          <a:noFill/>
          <a:ln/>
        </p:spPr>
        <p:txBody>
          <a:bodyPr wrap="square" lIns="0" tIns="0" rIns="0" bIns="0" rtlCol="0" anchor="ctr"/>
          <a:lstStyle/>
          <a:p>
            <a:pPr algn="l" indent="0" marL="0">
              <a:buNone/>
            </a:pPr>
            <a:r>
              <a:rPr lang="en-US" sz="1100" b="1" dirty="0">
                <a:solidFill>
                  <a:srgbClr val="7C3AED"/>
                </a:solidFill>
              </a:rPr>
              <a:t>QR code HMAC-SHA256</a:t>
            </a:r>
            <a:endParaRPr lang="en-US" sz="1100" dirty="0"/>
          </a:p>
        </p:txBody>
      </p:sp>
      <p:sp>
        <p:nvSpPr>
          <p:cNvPr id="7" name="Text 5"/>
          <p:cNvSpPr/>
          <p:nvPr/>
        </p:nvSpPr>
        <p:spPr>
          <a:xfrm>
            <a:off x="1078992" y="1344168"/>
            <a:ext cx="3383280" cy="566928"/>
          </a:xfrm>
          <a:prstGeom prst="rect">
            <a:avLst/>
          </a:prstGeom>
          <a:noFill/>
          <a:ln/>
        </p:spPr>
        <p:txBody>
          <a:bodyPr wrap="square" lIns="0" tIns="0" rIns="0" bIns="0" rtlCol="0" anchor="ctr"/>
          <a:lstStyle/>
          <a:p>
            <a:pPr algn="l" indent="0" marL="0">
              <a:buNone/>
            </a:pPr>
            <a:r>
              <a:rPr lang="en-US" sz="950" dirty="0">
                <a:solidFill>
                  <a:srgbClr val="334155"/>
                </a:solidFill>
              </a:rPr>
              <a:t>Signature cryptographique — impossible à falsifier sans la clé serveur</a:t>
            </a:r>
            <a:endParaRPr lang="en-US" sz="950" dirty="0"/>
          </a:p>
        </p:txBody>
      </p:sp>
      <p:sp>
        <p:nvSpPr>
          <p:cNvPr id="8" name="Shape 6"/>
          <p:cNvSpPr/>
          <p:nvPr/>
        </p:nvSpPr>
        <p:spPr>
          <a:xfrm>
            <a:off x="4800600" y="868680"/>
            <a:ext cx="4206240" cy="1170432"/>
          </a:xfrm>
          <a:prstGeom prst="rect">
            <a:avLst/>
          </a:prstGeom>
          <a:solidFill>
            <a:srgbClr val="FFFFFF"/>
          </a:solidFill>
          <a:ln w="19050">
            <a:solidFill>
              <a:srgbClr val="10B981"/>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4928616" y="1216152"/>
            <a:ext cx="475488" cy="475488"/>
          </a:xfrm>
          <a:prstGeom prst="ellipse">
            <a:avLst/>
          </a:prstGeom>
          <a:solidFill>
            <a:srgbClr val="10B981">
              <a:alpha val="15000"/>
            </a:srgbClr>
          </a:solidFill>
          <a:ln w="12700">
            <a:solidFill>
              <a:srgbClr val="10B981"/>
            </a:solidFill>
            <a:prstDash val="solid"/>
          </a:ln>
        </p:spPr>
      </p:sp>
      <p:sp>
        <p:nvSpPr>
          <p:cNvPr id="10" name="Text 8"/>
          <p:cNvSpPr/>
          <p:nvPr/>
        </p:nvSpPr>
        <p:spPr>
          <a:xfrm>
            <a:off x="4892040" y="1188720"/>
            <a:ext cx="548640" cy="530352"/>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1" name="Text 9"/>
          <p:cNvSpPr/>
          <p:nvPr/>
        </p:nvSpPr>
        <p:spPr>
          <a:xfrm>
            <a:off x="5513832" y="996696"/>
            <a:ext cx="3383280" cy="329184"/>
          </a:xfrm>
          <a:prstGeom prst="rect">
            <a:avLst/>
          </a:prstGeom>
          <a:noFill/>
          <a:ln/>
        </p:spPr>
        <p:txBody>
          <a:bodyPr wrap="square" lIns="0" tIns="0" rIns="0" bIns="0" rtlCol="0" anchor="ctr"/>
          <a:lstStyle/>
          <a:p>
            <a:pPr algn="l" indent="0" marL="0">
              <a:buNone/>
            </a:pPr>
            <a:r>
              <a:rPr lang="en-US" sz="1100" b="1" dirty="0">
                <a:solidFill>
                  <a:srgbClr val="10B981"/>
                </a:solidFill>
              </a:rPr>
              <a:t>Paiement Stripe (PCI-DSS)</a:t>
            </a:r>
            <a:endParaRPr lang="en-US" sz="1100" dirty="0"/>
          </a:p>
        </p:txBody>
      </p:sp>
      <p:sp>
        <p:nvSpPr>
          <p:cNvPr id="12" name="Text 10"/>
          <p:cNvSpPr/>
          <p:nvPr/>
        </p:nvSpPr>
        <p:spPr>
          <a:xfrm>
            <a:off x="5513832" y="1344168"/>
            <a:ext cx="3383280" cy="566928"/>
          </a:xfrm>
          <a:prstGeom prst="rect">
            <a:avLst/>
          </a:prstGeom>
          <a:noFill/>
          <a:ln/>
        </p:spPr>
        <p:txBody>
          <a:bodyPr wrap="square" lIns="0" tIns="0" rIns="0" bIns="0" rtlCol="0" anchor="ctr"/>
          <a:lstStyle/>
          <a:p>
            <a:pPr algn="l" indent="0" marL="0">
              <a:buNone/>
            </a:pPr>
            <a:r>
              <a:rPr lang="en-US" sz="950" dirty="0">
                <a:solidFill>
                  <a:srgbClr val="334155"/>
                </a:solidFill>
              </a:rPr>
              <a:t>Aucune donnée bancaire sur nos serveurs — Stripe gère tout</a:t>
            </a:r>
            <a:endParaRPr lang="en-US" sz="950" dirty="0"/>
          </a:p>
        </p:txBody>
      </p:sp>
      <p:sp>
        <p:nvSpPr>
          <p:cNvPr id="13" name="Shape 11"/>
          <p:cNvSpPr/>
          <p:nvPr/>
        </p:nvSpPr>
        <p:spPr>
          <a:xfrm>
            <a:off x="365760" y="2167128"/>
            <a:ext cx="4206240" cy="1170432"/>
          </a:xfrm>
          <a:prstGeom prst="rect">
            <a:avLst/>
          </a:prstGeom>
          <a:solidFill>
            <a:srgbClr val="FFFFFF"/>
          </a:solidFill>
          <a:ln w="19050">
            <a:solidFill>
              <a:srgbClr val="3B82F6"/>
            </a:solidFill>
            <a:prstDash val="solid"/>
          </a:ln>
          <a:effectLst>
            <a:outerShdw sx="100000" sy="100000" kx="0" ky="0" algn="bl" rotWithShape="0" blurRad="101600" dist="38100" dir="8100000">
              <a:srgbClr val="000000">
                <a:alpha val="10000"/>
              </a:srgbClr>
            </a:outerShdw>
          </a:effectLst>
        </p:spPr>
      </p:sp>
      <p:sp>
        <p:nvSpPr>
          <p:cNvPr id="14" name="Shape 12"/>
          <p:cNvSpPr/>
          <p:nvPr/>
        </p:nvSpPr>
        <p:spPr>
          <a:xfrm>
            <a:off x="493776" y="2514600"/>
            <a:ext cx="475488" cy="475488"/>
          </a:xfrm>
          <a:prstGeom prst="ellipse">
            <a:avLst/>
          </a:prstGeom>
          <a:solidFill>
            <a:srgbClr val="3B82F6">
              <a:alpha val="15000"/>
            </a:srgbClr>
          </a:solidFill>
          <a:ln w="12700">
            <a:solidFill>
              <a:srgbClr val="3B82F6"/>
            </a:solidFill>
            <a:prstDash val="solid"/>
          </a:ln>
        </p:spPr>
      </p:sp>
      <p:sp>
        <p:nvSpPr>
          <p:cNvPr id="15" name="Text 13"/>
          <p:cNvSpPr/>
          <p:nvPr/>
        </p:nvSpPr>
        <p:spPr>
          <a:xfrm>
            <a:off x="457200" y="2487168"/>
            <a:ext cx="548640" cy="530352"/>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Text 14"/>
          <p:cNvSpPr/>
          <p:nvPr/>
        </p:nvSpPr>
        <p:spPr>
          <a:xfrm>
            <a:off x="1078992" y="2295144"/>
            <a:ext cx="3383280" cy="329184"/>
          </a:xfrm>
          <a:prstGeom prst="rect">
            <a:avLst/>
          </a:prstGeom>
          <a:noFill/>
          <a:ln/>
        </p:spPr>
        <p:txBody>
          <a:bodyPr wrap="square" lIns="0" tIns="0" rIns="0" bIns="0" rtlCol="0" anchor="ctr"/>
          <a:lstStyle/>
          <a:p>
            <a:pPr algn="l" indent="0" marL="0">
              <a:buNone/>
            </a:pPr>
            <a:r>
              <a:rPr lang="en-US" sz="1100" b="1" dirty="0">
                <a:solidFill>
                  <a:srgbClr val="3B82F6"/>
                </a:solidFill>
              </a:rPr>
              <a:t>Firebase Auth + JWT</a:t>
            </a:r>
            <a:endParaRPr lang="en-US" sz="1100" dirty="0"/>
          </a:p>
        </p:txBody>
      </p:sp>
      <p:sp>
        <p:nvSpPr>
          <p:cNvPr id="17" name="Text 15"/>
          <p:cNvSpPr/>
          <p:nvPr/>
        </p:nvSpPr>
        <p:spPr>
          <a:xfrm>
            <a:off x="1078992" y="2642616"/>
            <a:ext cx="3383280" cy="566928"/>
          </a:xfrm>
          <a:prstGeom prst="rect">
            <a:avLst/>
          </a:prstGeom>
          <a:noFill/>
          <a:ln/>
        </p:spPr>
        <p:txBody>
          <a:bodyPr wrap="square" lIns="0" tIns="0" rIns="0" bIns="0" rtlCol="0" anchor="ctr"/>
          <a:lstStyle/>
          <a:p>
            <a:pPr algn="l" indent="0" marL="0">
              <a:buNone/>
            </a:pPr>
            <a:r>
              <a:rPr lang="en-US" sz="950" dirty="0">
                <a:solidFill>
                  <a:srgbClr val="334155"/>
                </a:solidFill>
              </a:rPr>
              <a:t>Tokens signés avec rôles (user/organizer/host) — refresh automatique</a:t>
            </a:r>
            <a:endParaRPr lang="en-US" sz="950" dirty="0"/>
          </a:p>
        </p:txBody>
      </p:sp>
      <p:sp>
        <p:nvSpPr>
          <p:cNvPr id="18" name="Shape 16"/>
          <p:cNvSpPr/>
          <p:nvPr/>
        </p:nvSpPr>
        <p:spPr>
          <a:xfrm>
            <a:off x="4800600" y="2167128"/>
            <a:ext cx="4206240" cy="1170432"/>
          </a:xfrm>
          <a:prstGeom prst="rect">
            <a:avLst/>
          </a:prstGeom>
          <a:solidFill>
            <a:srgbClr val="FFFFFF"/>
          </a:solidFill>
          <a:ln w="19050">
            <a:solidFill>
              <a:srgbClr val="F59E0B"/>
            </a:solidFill>
            <a:prstDash val="solid"/>
          </a:ln>
          <a:effectLst>
            <a:outerShdw sx="100000" sy="100000" kx="0" ky="0" algn="bl" rotWithShape="0" blurRad="101600" dist="38100" dir="8100000">
              <a:srgbClr val="000000">
                <a:alpha val="10000"/>
              </a:srgbClr>
            </a:outerShdw>
          </a:effectLst>
        </p:spPr>
      </p:sp>
      <p:sp>
        <p:nvSpPr>
          <p:cNvPr id="19" name="Shape 17"/>
          <p:cNvSpPr/>
          <p:nvPr/>
        </p:nvSpPr>
        <p:spPr>
          <a:xfrm>
            <a:off x="4928616" y="2514600"/>
            <a:ext cx="475488" cy="475488"/>
          </a:xfrm>
          <a:prstGeom prst="ellipse">
            <a:avLst/>
          </a:prstGeom>
          <a:solidFill>
            <a:srgbClr val="F59E0B">
              <a:alpha val="15000"/>
            </a:srgbClr>
          </a:solidFill>
          <a:ln w="12700">
            <a:solidFill>
              <a:srgbClr val="F59E0B"/>
            </a:solidFill>
            <a:prstDash val="solid"/>
          </a:ln>
        </p:spPr>
      </p:sp>
      <p:sp>
        <p:nvSpPr>
          <p:cNvPr id="20" name="Text 18"/>
          <p:cNvSpPr/>
          <p:nvPr/>
        </p:nvSpPr>
        <p:spPr>
          <a:xfrm>
            <a:off x="4892040" y="2487168"/>
            <a:ext cx="548640" cy="530352"/>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1" name="Text 19"/>
          <p:cNvSpPr/>
          <p:nvPr/>
        </p:nvSpPr>
        <p:spPr>
          <a:xfrm>
            <a:off x="5513832" y="2295144"/>
            <a:ext cx="3383280" cy="329184"/>
          </a:xfrm>
          <a:prstGeom prst="rect">
            <a:avLst/>
          </a:prstGeom>
          <a:noFill/>
          <a:ln/>
        </p:spPr>
        <p:txBody>
          <a:bodyPr wrap="square" lIns="0" tIns="0" rIns="0" bIns="0" rtlCol="0" anchor="ctr"/>
          <a:lstStyle/>
          <a:p>
            <a:pPr algn="l" indent="0" marL="0">
              <a:buNone/>
            </a:pPr>
            <a:r>
              <a:rPr lang="en-US" sz="1100" b="1" dirty="0">
                <a:solidFill>
                  <a:srgbClr val="F59E0B"/>
                </a:solidFill>
              </a:rPr>
              <a:t>Chiffrement AES-256</a:t>
            </a:r>
            <a:endParaRPr lang="en-US" sz="1100" dirty="0"/>
          </a:p>
        </p:txBody>
      </p:sp>
      <p:sp>
        <p:nvSpPr>
          <p:cNvPr id="22" name="Text 20"/>
          <p:cNvSpPr/>
          <p:nvPr/>
        </p:nvSpPr>
        <p:spPr>
          <a:xfrm>
            <a:off x="5513832" y="2642616"/>
            <a:ext cx="3383280" cy="566928"/>
          </a:xfrm>
          <a:prstGeom prst="rect">
            <a:avLst/>
          </a:prstGeom>
          <a:noFill/>
          <a:ln/>
        </p:spPr>
        <p:txBody>
          <a:bodyPr wrap="square" lIns="0" tIns="0" rIns="0" bIns="0" rtlCol="0" anchor="ctr"/>
          <a:lstStyle/>
          <a:p>
            <a:pPr algn="l" indent="0" marL="0">
              <a:buNone/>
            </a:pPr>
            <a:r>
              <a:rPr lang="en-US" sz="950" dirty="0">
                <a:solidFill>
                  <a:srgbClr val="334155"/>
                </a:solidFill>
              </a:rPr>
              <a:t>Base Isar locale chiffrée — perte du téléphone ≠ fuite de données</a:t>
            </a:r>
            <a:endParaRPr lang="en-US" sz="950" dirty="0"/>
          </a:p>
        </p:txBody>
      </p:sp>
      <p:sp>
        <p:nvSpPr>
          <p:cNvPr id="23" name="Shape 21"/>
          <p:cNvSpPr/>
          <p:nvPr/>
        </p:nvSpPr>
        <p:spPr>
          <a:xfrm>
            <a:off x="365760" y="3465576"/>
            <a:ext cx="4206240" cy="1170432"/>
          </a:xfrm>
          <a:prstGeom prst="rect">
            <a:avLst/>
          </a:prstGeom>
          <a:solidFill>
            <a:srgbClr val="FFFFFF"/>
          </a:solidFill>
          <a:ln w="19050">
            <a:solidFill>
              <a:srgbClr val="EC4899"/>
            </a:solidFill>
            <a:prstDash val="solid"/>
          </a:ln>
          <a:effectLst>
            <a:outerShdw sx="100000" sy="100000" kx="0" ky="0" algn="bl" rotWithShape="0" blurRad="101600" dist="38100" dir="8100000">
              <a:srgbClr val="000000">
                <a:alpha val="10000"/>
              </a:srgbClr>
            </a:outerShdw>
          </a:effectLst>
        </p:spPr>
      </p:sp>
      <p:sp>
        <p:nvSpPr>
          <p:cNvPr id="24" name="Shape 22"/>
          <p:cNvSpPr/>
          <p:nvPr/>
        </p:nvSpPr>
        <p:spPr>
          <a:xfrm>
            <a:off x="493776" y="3813048"/>
            <a:ext cx="475488" cy="475488"/>
          </a:xfrm>
          <a:prstGeom prst="ellipse">
            <a:avLst/>
          </a:prstGeom>
          <a:solidFill>
            <a:srgbClr val="EC4899">
              <a:alpha val="15000"/>
            </a:srgbClr>
          </a:solidFill>
          <a:ln w="12700">
            <a:solidFill>
              <a:srgbClr val="EC4899"/>
            </a:solidFill>
            <a:prstDash val="solid"/>
          </a:ln>
        </p:spPr>
      </p:sp>
      <p:sp>
        <p:nvSpPr>
          <p:cNvPr id="25" name="Text 23"/>
          <p:cNvSpPr/>
          <p:nvPr/>
        </p:nvSpPr>
        <p:spPr>
          <a:xfrm>
            <a:off x="457200" y="3785616"/>
            <a:ext cx="548640" cy="530352"/>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6" name="Text 24"/>
          <p:cNvSpPr/>
          <p:nvPr/>
        </p:nvSpPr>
        <p:spPr>
          <a:xfrm>
            <a:off x="1078992" y="3593592"/>
            <a:ext cx="3383280" cy="329184"/>
          </a:xfrm>
          <a:prstGeom prst="rect">
            <a:avLst/>
          </a:prstGeom>
          <a:noFill/>
          <a:ln/>
        </p:spPr>
        <p:txBody>
          <a:bodyPr wrap="square" lIns="0" tIns="0" rIns="0" bIns="0" rtlCol="0" anchor="ctr"/>
          <a:lstStyle/>
          <a:p>
            <a:pPr algn="l" indent="0" marL="0">
              <a:buNone/>
            </a:pPr>
            <a:r>
              <a:rPr lang="en-US" sz="1100" b="1" dirty="0">
                <a:solidFill>
                  <a:srgbClr val="EC4899"/>
                </a:solidFill>
              </a:rPr>
              <a:t>HTTPS / TLS 1.3</a:t>
            </a:r>
            <a:endParaRPr lang="en-US" sz="1100" dirty="0"/>
          </a:p>
        </p:txBody>
      </p:sp>
      <p:sp>
        <p:nvSpPr>
          <p:cNvPr id="27" name="Text 25"/>
          <p:cNvSpPr/>
          <p:nvPr/>
        </p:nvSpPr>
        <p:spPr>
          <a:xfrm>
            <a:off x="1078992" y="3941064"/>
            <a:ext cx="3383280" cy="566928"/>
          </a:xfrm>
          <a:prstGeom prst="rect">
            <a:avLst/>
          </a:prstGeom>
          <a:noFill/>
          <a:ln/>
        </p:spPr>
        <p:txBody>
          <a:bodyPr wrap="square" lIns="0" tIns="0" rIns="0" bIns="0" rtlCol="0" anchor="ctr"/>
          <a:lstStyle/>
          <a:p>
            <a:pPr algn="l" indent="0" marL="0">
              <a:buNone/>
            </a:pPr>
            <a:r>
              <a:rPr lang="en-US" sz="950" dirty="0">
                <a:solidFill>
                  <a:srgbClr val="334155"/>
                </a:solidFill>
              </a:rPr>
              <a:t>Toutes les communications chiffrées — certificate pinning sur les endpoints clés</a:t>
            </a:r>
            <a:endParaRPr lang="en-US" sz="950" dirty="0"/>
          </a:p>
        </p:txBody>
      </p:sp>
      <p:sp>
        <p:nvSpPr>
          <p:cNvPr id="28" name="Shape 26"/>
          <p:cNvSpPr/>
          <p:nvPr/>
        </p:nvSpPr>
        <p:spPr>
          <a:xfrm>
            <a:off x="4800600" y="3465576"/>
            <a:ext cx="4206240" cy="1170432"/>
          </a:xfrm>
          <a:prstGeom prst="rect">
            <a:avLst/>
          </a:prstGeom>
          <a:solidFill>
            <a:srgbClr val="FFFFFF"/>
          </a:solidFill>
          <a:ln w="19050">
            <a:solidFill>
              <a:srgbClr val="6366F1"/>
            </a:solidFill>
            <a:prstDash val="solid"/>
          </a:ln>
          <a:effectLst>
            <a:outerShdw sx="100000" sy="100000" kx="0" ky="0" algn="bl" rotWithShape="0" blurRad="101600" dist="38100" dir="8100000">
              <a:srgbClr val="000000">
                <a:alpha val="10000"/>
              </a:srgbClr>
            </a:outerShdw>
          </a:effectLst>
        </p:spPr>
      </p:sp>
      <p:sp>
        <p:nvSpPr>
          <p:cNvPr id="29" name="Shape 27"/>
          <p:cNvSpPr/>
          <p:nvPr/>
        </p:nvSpPr>
        <p:spPr>
          <a:xfrm>
            <a:off x="4928616" y="3813048"/>
            <a:ext cx="475488" cy="475488"/>
          </a:xfrm>
          <a:prstGeom prst="ellipse">
            <a:avLst/>
          </a:prstGeom>
          <a:solidFill>
            <a:srgbClr val="6366F1">
              <a:alpha val="15000"/>
            </a:srgbClr>
          </a:solidFill>
          <a:ln w="12700">
            <a:solidFill>
              <a:srgbClr val="6366F1"/>
            </a:solidFill>
            <a:prstDash val="solid"/>
          </a:ln>
        </p:spPr>
      </p:sp>
      <p:sp>
        <p:nvSpPr>
          <p:cNvPr id="30" name="Text 28"/>
          <p:cNvSpPr/>
          <p:nvPr/>
        </p:nvSpPr>
        <p:spPr>
          <a:xfrm>
            <a:off x="4892040" y="3785616"/>
            <a:ext cx="548640" cy="530352"/>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1" name="Text 29"/>
          <p:cNvSpPr/>
          <p:nvPr/>
        </p:nvSpPr>
        <p:spPr>
          <a:xfrm>
            <a:off x="5513832" y="3593592"/>
            <a:ext cx="3383280" cy="329184"/>
          </a:xfrm>
          <a:prstGeom prst="rect">
            <a:avLst/>
          </a:prstGeom>
          <a:noFill/>
          <a:ln/>
        </p:spPr>
        <p:txBody>
          <a:bodyPr wrap="square" lIns="0" tIns="0" rIns="0" bIns="0" rtlCol="0" anchor="ctr"/>
          <a:lstStyle/>
          <a:p>
            <a:pPr algn="l" indent="0" marL="0">
              <a:buNone/>
            </a:pPr>
            <a:r>
              <a:rPr lang="en-US" sz="1100" b="1" dirty="0">
                <a:solidFill>
                  <a:srgbClr val="6366F1"/>
                </a:solidFill>
              </a:rPr>
              <a:t>RGPD / Privacy by Design</a:t>
            </a:r>
            <a:endParaRPr lang="en-US" sz="1100" dirty="0"/>
          </a:p>
        </p:txBody>
      </p:sp>
      <p:sp>
        <p:nvSpPr>
          <p:cNvPr id="32" name="Text 30"/>
          <p:cNvSpPr/>
          <p:nvPr/>
        </p:nvSpPr>
        <p:spPr>
          <a:xfrm>
            <a:off x="5513832" y="3941064"/>
            <a:ext cx="3383280" cy="566928"/>
          </a:xfrm>
          <a:prstGeom prst="rect">
            <a:avLst/>
          </a:prstGeom>
          <a:noFill/>
          <a:ln/>
        </p:spPr>
        <p:txBody>
          <a:bodyPr wrap="square" lIns="0" tIns="0" rIns="0" bIns="0" rtlCol="0" anchor="ctr"/>
          <a:lstStyle/>
          <a:p>
            <a:pPr algn="l" indent="0" marL="0">
              <a:buNone/>
            </a:pPr>
            <a:r>
              <a:rPr lang="en-US" sz="950" dirty="0">
                <a:solidFill>
                  <a:srgbClr val="334155"/>
                </a:solidFill>
              </a:rPr>
              <a:t>Droit d'accès, rectification, suppression, export dès la V1</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0B981"/>
          </a:solidFill>
          <a:ln w="12700">
            <a:solidFill>
              <a:srgbClr val="10B981"/>
            </a:solidFill>
            <a:prstDash val="solid"/>
          </a:ln>
        </p:spPr>
      </p:sp>
      <p:sp>
        <p:nvSpPr>
          <p:cNvPr id="3" name="Text 1"/>
          <p:cNvSpPr/>
          <p:nvPr/>
        </p:nvSpPr>
        <p:spPr>
          <a:xfrm>
            <a:off x="365760" y="274320"/>
            <a:ext cx="8229600" cy="502920"/>
          </a:xfrm>
          <a:prstGeom prst="rect">
            <a:avLst/>
          </a:prstGeom>
          <a:noFill/>
          <a:ln/>
        </p:spPr>
        <p:txBody>
          <a:bodyPr wrap="square" lIns="0" tIns="0" rIns="0" bIns="0" rtlCol="0" anchor="ctr"/>
          <a:lstStyle/>
          <a:p>
            <a:pPr algn="l" indent="0" marL="0">
              <a:buNone/>
            </a:pPr>
            <a:r>
              <a:rPr lang="en-US" sz="3000" b="1" dirty="0">
                <a:solidFill>
                  <a:srgbClr val="10B981"/>
                </a:solidFill>
              </a:rPr>
              <a:t>Ce qu'on a livré</a:t>
            </a:r>
            <a:endParaRPr lang="en-US" sz="3000" dirty="0"/>
          </a:p>
        </p:txBody>
      </p:sp>
      <p:sp>
        <p:nvSpPr>
          <p:cNvPr id="4" name="Shape 2"/>
          <p:cNvSpPr/>
          <p:nvPr/>
        </p:nvSpPr>
        <p:spPr>
          <a:xfrm>
            <a:off x="365760" y="960120"/>
            <a:ext cx="4206240" cy="1024128"/>
          </a:xfrm>
          <a:prstGeom prst="rect">
            <a:avLst/>
          </a:prstGeom>
          <a:solidFill>
            <a:srgbClr val="1E293B"/>
          </a:solidFill>
          <a:ln w="12700">
            <a:solidFill>
              <a:srgbClr val="10B981"/>
            </a:solidFill>
            <a:prstDash val="solid"/>
          </a:ln>
          <a:effectLst>
            <a:outerShdw sx="100000" sy="100000" kx="0" ky="0" algn="bl" rotWithShape="0" blurRad="101600" dist="38100" dir="8100000">
              <a:srgbClr val="000000">
                <a:alpha val="10000"/>
              </a:srgbClr>
            </a:outerShdw>
          </a:effectLst>
        </p:spPr>
      </p:sp>
      <p:sp>
        <p:nvSpPr>
          <p:cNvPr id="5" name="Text 3"/>
          <p:cNvSpPr/>
          <p:nvPr/>
        </p:nvSpPr>
        <p:spPr>
          <a:xfrm>
            <a:off x="502920" y="123444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1097280" y="1097280"/>
            <a:ext cx="3383280" cy="347472"/>
          </a:xfrm>
          <a:prstGeom prst="rect">
            <a:avLst/>
          </a:prstGeom>
          <a:noFill/>
          <a:ln/>
        </p:spPr>
        <p:txBody>
          <a:bodyPr wrap="square" lIns="0" tIns="0" rIns="0" bIns="0" rtlCol="0" anchor="ctr"/>
          <a:lstStyle/>
          <a:p>
            <a:pPr algn="l" indent="0" marL="0">
              <a:buNone/>
            </a:pPr>
            <a:r>
              <a:rPr lang="en-US" sz="1200" b="1" dirty="0">
                <a:solidFill>
                  <a:srgbClr val="10B981"/>
                </a:solidFill>
              </a:rPr>
              <a:t>App Flutter complète</a:t>
            </a:r>
            <a:endParaRPr lang="en-US" sz="1200" dirty="0"/>
          </a:p>
        </p:txBody>
      </p:sp>
      <p:sp>
        <p:nvSpPr>
          <p:cNvPr id="7" name="Text 5"/>
          <p:cNvSpPr/>
          <p:nvPr/>
        </p:nvSpPr>
        <p:spPr>
          <a:xfrm>
            <a:off x="1097280" y="1463040"/>
            <a:ext cx="3383280" cy="365760"/>
          </a:xfrm>
          <a:prstGeom prst="rect">
            <a:avLst/>
          </a:prstGeom>
          <a:noFill/>
          <a:ln/>
        </p:spPr>
        <p:txBody>
          <a:bodyPr wrap="square" lIns="0" tIns="0" rIns="0" bIns="0" rtlCol="0" anchor="ctr"/>
          <a:lstStyle/>
          <a:p>
            <a:pPr algn="l" indent="0" marL="0">
              <a:buNone/>
            </a:pPr>
            <a:r>
              <a:rPr lang="en-US" sz="1000" dirty="0">
                <a:solidFill>
                  <a:srgbClr val="94A3B8"/>
                </a:solidFill>
              </a:rPr>
              <a:t>42 fichiers · Android + iOS + Web</a:t>
            </a:r>
            <a:endParaRPr lang="en-US" sz="1000" dirty="0"/>
          </a:p>
        </p:txBody>
      </p:sp>
      <p:sp>
        <p:nvSpPr>
          <p:cNvPr id="8" name="Shape 6"/>
          <p:cNvSpPr/>
          <p:nvPr/>
        </p:nvSpPr>
        <p:spPr>
          <a:xfrm>
            <a:off x="4846320" y="960120"/>
            <a:ext cx="4206240" cy="1024128"/>
          </a:xfrm>
          <a:prstGeom prst="rect">
            <a:avLst/>
          </a:prstGeom>
          <a:solidFill>
            <a:srgbClr val="1E293B"/>
          </a:solidFill>
          <a:ln w="12700">
            <a:solidFill>
              <a:srgbClr val="10B981"/>
            </a:solidFill>
            <a:prstDash val="solid"/>
          </a:ln>
          <a:effectLst>
            <a:outerShdw sx="100000" sy="100000" kx="0" ky="0" algn="bl" rotWithShape="0" blurRad="101600" dist="38100" dir="8100000">
              <a:srgbClr val="000000">
                <a:alpha val="10000"/>
              </a:srgbClr>
            </a:outerShdw>
          </a:effectLst>
        </p:spPr>
      </p:sp>
      <p:sp>
        <p:nvSpPr>
          <p:cNvPr id="9" name="Text 7"/>
          <p:cNvSpPr/>
          <p:nvPr/>
        </p:nvSpPr>
        <p:spPr>
          <a:xfrm>
            <a:off x="4983480" y="123444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5577840" y="1097280"/>
            <a:ext cx="3383280" cy="347472"/>
          </a:xfrm>
          <a:prstGeom prst="rect">
            <a:avLst/>
          </a:prstGeom>
          <a:noFill/>
          <a:ln/>
        </p:spPr>
        <p:txBody>
          <a:bodyPr wrap="square" lIns="0" tIns="0" rIns="0" bIns="0" rtlCol="0" anchor="ctr"/>
          <a:lstStyle/>
          <a:p>
            <a:pPr algn="l" indent="0" marL="0">
              <a:buNone/>
            </a:pPr>
            <a:r>
              <a:rPr lang="en-US" sz="1200" b="1" dirty="0">
                <a:solidFill>
                  <a:srgbClr val="10B981"/>
                </a:solidFill>
              </a:rPr>
              <a:t>CDC complet</a:t>
            </a:r>
            <a:endParaRPr lang="en-US" sz="1200" dirty="0"/>
          </a:p>
        </p:txBody>
      </p:sp>
      <p:sp>
        <p:nvSpPr>
          <p:cNvPr id="11" name="Text 9"/>
          <p:cNvSpPr/>
          <p:nvPr/>
        </p:nvSpPr>
        <p:spPr>
          <a:xfrm>
            <a:off x="5577840" y="1463040"/>
            <a:ext cx="3383280" cy="365760"/>
          </a:xfrm>
          <a:prstGeom prst="rect">
            <a:avLst/>
          </a:prstGeom>
          <a:noFill/>
          <a:ln/>
        </p:spPr>
        <p:txBody>
          <a:bodyPr wrap="square" lIns="0" tIns="0" rIns="0" bIns="0" rtlCol="0" anchor="ctr"/>
          <a:lstStyle/>
          <a:p>
            <a:pPr algn="l" indent="0" marL="0">
              <a:buNone/>
            </a:pPr>
            <a:r>
              <a:rPr lang="en-US" sz="1000" dirty="0">
                <a:solidFill>
                  <a:srgbClr val="94A3B8"/>
                </a:solidFill>
              </a:rPr>
              <a:t>60 user stories · 9 modules · planning 6 phases</a:t>
            </a:r>
            <a:endParaRPr lang="en-US" sz="1000" dirty="0"/>
          </a:p>
        </p:txBody>
      </p:sp>
      <p:sp>
        <p:nvSpPr>
          <p:cNvPr id="12" name="Shape 10"/>
          <p:cNvSpPr/>
          <p:nvPr/>
        </p:nvSpPr>
        <p:spPr>
          <a:xfrm>
            <a:off x="365760" y="2130552"/>
            <a:ext cx="4206240" cy="1024128"/>
          </a:xfrm>
          <a:prstGeom prst="rect">
            <a:avLst/>
          </a:prstGeom>
          <a:solidFill>
            <a:srgbClr val="1E293B"/>
          </a:solidFill>
          <a:ln w="12700">
            <a:solidFill>
              <a:srgbClr val="10B981"/>
            </a:solidFill>
            <a:prstDash val="solid"/>
          </a:ln>
          <a:effectLst>
            <a:outerShdw sx="100000" sy="100000" kx="0" ky="0" algn="bl" rotWithShape="0" blurRad="101600" dist="38100" dir="8100000">
              <a:srgbClr val="000000">
                <a:alpha val="10000"/>
              </a:srgbClr>
            </a:outerShdw>
          </a:effectLst>
        </p:spPr>
      </p:sp>
      <p:sp>
        <p:nvSpPr>
          <p:cNvPr id="13" name="Text 11"/>
          <p:cNvSpPr/>
          <p:nvPr/>
        </p:nvSpPr>
        <p:spPr>
          <a:xfrm>
            <a:off x="502920" y="2404872"/>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1097280" y="2267712"/>
            <a:ext cx="3383280" cy="347472"/>
          </a:xfrm>
          <a:prstGeom prst="rect">
            <a:avLst/>
          </a:prstGeom>
          <a:noFill/>
          <a:ln/>
        </p:spPr>
        <p:txBody>
          <a:bodyPr wrap="square" lIns="0" tIns="0" rIns="0" bIns="0" rtlCol="0" anchor="ctr"/>
          <a:lstStyle/>
          <a:p>
            <a:pPr algn="l" indent="0" marL="0">
              <a:buNone/>
            </a:pPr>
            <a:r>
              <a:rPr lang="en-US" sz="1200" b="1" dirty="0">
                <a:solidFill>
                  <a:srgbClr val="10B981"/>
                </a:solidFill>
              </a:rPr>
              <a:t>ERD + MCD + MLD</a:t>
            </a:r>
            <a:endParaRPr lang="en-US" sz="1200" dirty="0"/>
          </a:p>
        </p:txBody>
      </p:sp>
      <p:sp>
        <p:nvSpPr>
          <p:cNvPr id="15" name="Text 13"/>
          <p:cNvSpPr/>
          <p:nvPr/>
        </p:nvSpPr>
        <p:spPr>
          <a:xfrm>
            <a:off x="1097280" y="2633472"/>
            <a:ext cx="3383280" cy="365760"/>
          </a:xfrm>
          <a:prstGeom prst="rect">
            <a:avLst/>
          </a:prstGeom>
          <a:noFill/>
          <a:ln/>
        </p:spPr>
        <p:txBody>
          <a:bodyPr wrap="square" lIns="0" tIns="0" rIns="0" bIns="0" rtlCol="0" anchor="ctr"/>
          <a:lstStyle/>
          <a:p>
            <a:pPr algn="l" indent="0" marL="0">
              <a:buNone/>
            </a:pPr>
            <a:r>
              <a:rPr lang="en-US" sz="1000" dirty="0">
                <a:solidFill>
                  <a:srgbClr val="94A3B8"/>
                </a:solidFill>
              </a:rPr>
              <a:t>5 entités · cohérence totale du schéma</a:t>
            </a:r>
            <a:endParaRPr lang="en-US" sz="1000" dirty="0"/>
          </a:p>
        </p:txBody>
      </p:sp>
      <p:sp>
        <p:nvSpPr>
          <p:cNvPr id="16" name="Shape 14"/>
          <p:cNvSpPr/>
          <p:nvPr/>
        </p:nvSpPr>
        <p:spPr>
          <a:xfrm>
            <a:off x="4846320" y="2130552"/>
            <a:ext cx="4206240" cy="1024128"/>
          </a:xfrm>
          <a:prstGeom prst="rect">
            <a:avLst/>
          </a:prstGeom>
          <a:solidFill>
            <a:srgbClr val="1E293B"/>
          </a:solidFill>
          <a:ln w="12700">
            <a:solidFill>
              <a:srgbClr val="10B981"/>
            </a:solidFill>
            <a:prstDash val="solid"/>
          </a:ln>
          <a:effectLst>
            <a:outerShdw sx="100000" sy="100000" kx="0" ky="0" algn="bl" rotWithShape="0" blurRad="101600" dist="38100" dir="8100000">
              <a:srgbClr val="000000">
                <a:alpha val="10000"/>
              </a:srgbClr>
            </a:outerShdw>
          </a:effectLst>
        </p:spPr>
      </p:sp>
      <p:sp>
        <p:nvSpPr>
          <p:cNvPr id="17" name="Text 15"/>
          <p:cNvSpPr/>
          <p:nvPr/>
        </p:nvSpPr>
        <p:spPr>
          <a:xfrm>
            <a:off x="4983480" y="2404872"/>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5577840" y="2267712"/>
            <a:ext cx="3383280" cy="347472"/>
          </a:xfrm>
          <a:prstGeom prst="rect">
            <a:avLst/>
          </a:prstGeom>
          <a:noFill/>
          <a:ln/>
        </p:spPr>
        <p:txBody>
          <a:bodyPr wrap="square" lIns="0" tIns="0" rIns="0" bIns="0" rtlCol="0" anchor="ctr"/>
          <a:lstStyle/>
          <a:p>
            <a:pPr algn="l" indent="0" marL="0">
              <a:buNone/>
            </a:pPr>
            <a:r>
              <a:rPr lang="en-US" sz="1200" b="1" dirty="0">
                <a:solidFill>
                  <a:srgbClr val="10B981"/>
                </a:solidFill>
              </a:rPr>
              <a:t>Diagrammes UML</a:t>
            </a:r>
            <a:endParaRPr lang="en-US" sz="1200" dirty="0"/>
          </a:p>
        </p:txBody>
      </p:sp>
      <p:sp>
        <p:nvSpPr>
          <p:cNvPr id="19" name="Text 17"/>
          <p:cNvSpPr/>
          <p:nvPr/>
        </p:nvSpPr>
        <p:spPr>
          <a:xfrm>
            <a:off x="5577840" y="2633472"/>
            <a:ext cx="3383280" cy="365760"/>
          </a:xfrm>
          <a:prstGeom prst="rect">
            <a:avLst/>
          </a:prstGeom>
          <a:noFill/>
          <a:ln/>
        </p:spPr>
        <p:txBody>
          <a:bodyPr wrap="square" lIns="0" tIns="0" rIns="0" bIns="0" rtlCol="0" anchor="ctr"/>
          <a:lstStyle/>
          <a:p>
            <a:pPr algn="l" indent="0" marL="0">
              <a:buNone/>
            </a:pPr>
            <a:r>
              <a:rPr lang="en-US" sz="1000" dirty="0">
                <a:solidFill>
                  <a:srgbClr val="94A3B8"/>
                </a:solidFill>
              </a:rPr>
              <a:t>Classes + Activité + 5 parcours flowcharts</a:t>
            </a:r>
            <a:endParaRPr lang="en-US" sz="1000" dirty="0"/>
          </a:p>
        </p:txBody>
      </p:sp>
      <p:sp>
        <p:nvSpPr>
          <p:cNvPr id="20" name="Shape 18"/>
          <p:cNvSpPr/>
          <p:nvPr/>
        </p:nvSpPr>
        <p:spPr>
          <a:xfrm>
            <a:off x="365760" y="3300984"/>
            <a:ext cx="4206240" cy="1024128"/>
          </a:xfrm>
          <a:prstGeom prst="rect">
            <a:avLst/>
          </a:prstGeom>
          <a:solidFill>
            <a:srgbClr val="1E293B"/>
          </a:solidFill>
          <a:ln w="12700">
            <a:solidFill>
              <a:srgbClr val="10B981"/>
            </a:solidFill>
            <a:prstDash val="solid"/>
          </a:ln>
          <a:effectLst>
            <a:outerShdw sx="100000" sy="100000" kx="0" ky="0" algn="bl" rotWithShape="0" blurRad="101600" dist="38100" dir="8100000">
              <a:srgbClr val="000000">
                <a:alpha val="10000"/>
              </a:srgbClr>
            </a:outerShdw>
          </a:effectLst>
        </p:spPr>
      </p:sp>
      <p:sp>
        <p:nvSpPr>
          <p:cNvPr id="21" name="Text 19"/>
          <p:cNvSpPr/>
          <p:nvPr/>
        </p:nvSpPr>
        <p:spPr>
          <a:xfrm>
            <a:off x="502920" y="3575304"/>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2" name="Text 20"/>
          <p:cNvSpPr/>
          <p:nvPr/>
        </p:nvSpPr>
        <p:spPr>
          <a:xfrm>
            <a:off x="1097280" y="3438144"/>
            <a:ext cx="3383280" cy="347472"/>
          </a:xfrm>
          <a:prstGeom prst="rect">
            <a:avLst/>
          </a:prstGeom>
          <a:noFill/>
          <a:ln/>
        </p:spPr>
        <p:txBody>
          <a:bodyPr wrap="square" lIns="0" tIns="0" rIns="0" bIns="0" rtlCol="0" anchor="ctr"/>
          <a:lstStyle/>
          <a:p>
            <a:pPr algn="l" indent="0" marL="0">
              <a:buNone/>
            </a:pPr>
            <a:r>
              <a:rPr lang="en-US" sz="1200" b="1" dirty="0">
                <a:solidFill>
                  <a:srgbClr val="10B981"/>
                </a:solidFill>
              </a:rPr>
              <a:t>Fichier draw.io</a:t>
            </a:r>
            <a:endParaRPr lang="en-US" sz="1200" dirty="0"/>
          </a:p>
        </p:txBody>
      </p:sp>
      <p:sp>
        <p:nvSpPr>
          <p:cNvPr id="23" name="Text 21"/>
          <p:cNvSpPr/>
          <p:nvPr/>
        </p:nvSpPr>
        <p:spPr>
          <a:xfrm>
            <a:off x="1097280" y="3803904"/>
            <a:ext cx="3383280" cy="365760"/>
          </a:xfrm>
          <a:prstGeom prst="rect">
            <a:avLst/>
          </a:prstGeom>
          <a:noFill/>
          <a:ln/>
        </p:spPr>
        <p:txBody>
          <a:bodyPr wrap="square" lIns="0" tIns="0" rIns="0" bIns="0" rtlCol="0" anchor="ctr"/>
          <a:lstStyle/>
          <a:p>
            <a:pPr algn="l" indent="0" marL="0">
              <a:buNone/>
            </a:pPr>
            <a:r>
              <a:rPr lang="en-US" sz="1000" dirty="0">
                <a:solidFill>
                  <a:srgbClr val="94A3B8"/>
                </a:solidFill>
              </a:rPr>
              <a:t>8 onglets · 100% éditables</a:t>
            </a:r>
            <a:endParaRPr lang="en-US" sz="1000" dirty="0"/>
          </a:p>
        </p:txBody>
      </p:sp>
      <p:sp>
        <p:nvSpPr>
          <p:cNvPr id="24" name="Shape 22"/>
          <p:cNvSpPr/>
          <p:nvPr/>
        </p:nvSpPr>
        <p:spPr>
          <a:xfrm>
            <a:off x="4846320" y="3300984"/>
            <a:ext cx="4206240" cy="1024128"/>
          </a:xfrm>
          <a:prstGeom prst="rect">
            <a:avLst/>
          </a:prstGeom>
          <a:solidFill>
            <a:srgbClr val="1E293B"/>
          </a:solidFill>
          <a:ln w="12700">
            <a:solidFill>
              <a:srgbClr val="10B981"/>
            </a:solidFill>
            <a:prstDash val="solid"/>
          </a:ln>
          <a:effectLst>
            <a:outerShdw sx="100000" sy="100000" kx="0" ky="0" algn="bl" rotWithShape="0" blurRad="101600" dist="38100" dir="8100000">
              <a:srgbClr val="000000">
                <a:alpha val="10000"/>
              </a:srgbClr>
            </a:outerShdw>
          </a:effectLst>
        </p:spPr>
      </p:sp>
      <p:sp>
        <p:nvSpPr>
          <p:cNvPr id="25" name="Text 23"/>
          <p:cNvSpPr/>
          <p:nvPr/>
        </p:nvSpPr>
        <p:spPr>
          <a:xfrm>
            <a:off x="4983480" y="3575304"/>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6" name="Text 24"/>
          <p:cNvSpPr/>
          <p:nvPr/>
        </p:nvSpPr>
        <p:spPr>
          <a:xfrm>
            <a:off x="5577840" y="3438144"/>
            <a:ext cx="3383280" cy="347472"/>
          </a:xfrm>
          <a:prstGeom prst="rect">
            <a:avLst/>
          </a:prstGeom>
          <a:noFill/>
          <a:ln/>
        </p:spPr>
        <p:txBody>
          <a:bodyPr wrap="square" lIns="0" tIns="0" rIns="0" bIns="0" rtlCol="0" anchor="ctr"/>
          <a:lstStyle/>
          <a:p>
            <a:pPr algn="l" indent="0" marL="0">
              <a:buNone/>
            </a:pPr>
            <a:r>
              <a:rPr lang="en-US" sz="1200" b="1" dirty="0">
                <a:solidFill>
                  <a:srgbClr val="10B981"/>
                </a:solidFill>
              </a:rPr>
              <a:t>Dossier de présentation</a:t>
            </a:r>
            <a:endParaRPr lang="en-US" sz="1200" dirty="0"/>
          </a:p>
        </p:txBody>
      </p:sp>
      <p:sp>
        <p:nvSpPr>
          <p:cNvPr id="27" name="Text 25"/>
          <p:cNvSpPr/>
          <p:nvPr/>
        </p:nvSpPr>
        <p:spPr>
          <a:xfrm>
            <a:off x="5577840" y="3803904"/>
            <a:ext cx="3383280" cy="365760"/>
          </a:xfrm>
          <a:prstGeom prst="rect">
            <a:avLst/>
          </a:prstGeom>
          <a:noFill/>
          <a:ln/>
        </p:spPr>
        <p:txBody>
          <a:bodyPr wrap="square" lIns="0" tIns="0" rIns="0" bIns="0" rtlCol="0" anchor="ctr"/>
          <a:lstStyle/>
          <a:p>
            <a:pPr algn="l" indent="0" marL="0">
              <a:buNone/>
            </a:pPr>
            <a:r>
              <a:rPr lang="en-US" sz="1000" dirty="0">
                <a:solidFill>
                  <a:srgbClr val="94A3B8"/>
                </a:solidFill>
              </a:rPr>
              <a:t>~25 pages · 25 Q&amp;R anticipées · glossaire 65 termes</a:t>
            </a:r>
            <a:endParaRPr lang="en-US" sz="1000" dirty="0"/>
          </a:p>
        </p:txBody>
      </p:sp>
      <p:sp>
        <p:nvSpPr>
          <p:cNvPr id="28" name="Text 26"/>
          <p:cNvSpPr/>
          <p:nvPr/>
        </p:nvSpPr>
        <p:spPr>
          <a:xfrm>
            <a:off x="365760" y="4663440"/>
            <a:ext cx="8412480" cy="384048"/>
          </a:xfrm>
          <a:prstGeom prst="rect">
            <a:avLst/>
          </a:prstGeom>
          <a:noFill/>
          <a:ln/>
        </p:spPr>
        <p:txBody>
          <a:bodyPr wrap="square" lIns="0" tIns="0" rIns="0" bIns="0" rtlCol="0" anchor="ctr"/>
          <a:lstStyle/>
          <a:p>
            <a:pPr algn="ctr" indent="0" marL="0">
              <a:buNone/>
            </a:pPr>
            <a:r>
              <a:rPr lang="en-US" sz="2200" b="1" dirty="0">
                <a:solidFill>
                  <a:srgbClr val="FFFFFF"/>
                </a:solidFill>
              </a:rPr>
              <a:t>Merci · Questions ?</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Pulsar — Présentation Technique</dc:title>
  <dc:subject>PptxGenJS Presentation</dc:subject>
  <dc:creator>Équipe Neptune</dc:creator>
  <cp:lastModifiedBy>Équipe Neptune</cp:lastModifiedBy>
  <cp:revision>1</cp:revision>
  <dcterms:created xsi:type="dcterms:W3CDTF">2026-05-25T11:24:42Z</dcterms:created>
  <dcterms:modified xsi:type="dcterms:W3CDTF">2026-05-25T11:24:42Z</dcterms:modified>
</cp:coreProperties>
</file>